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1"/>
  </p:notesMasterIdLst>
  <p:sldIdLst>
    <p:sldId id="2147470489" r:id="rId2"/>
    <p:sldId id="2147470492" r:id="rId3"/>
    <p:sldId id="2147470493" r:id="rId4"/>
    <p:sldId id="2147470494" r:id="rId5"/>
    <p:sldId id="2147470495" r:id="rId6"/>
    <p:sldId id="2147470496" r:id="rId7"/>
    <p:sldId id="2147470497" r:id="rId8"/>
    <p:sldId id="2147470491" r:id="rId9"/>
    <p:sldId id="2147470487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25B9ED"/>
    <a:srgbClr val="47BDAE"/>
    <a:srgbClr val="30BBDA"/>
    <a:srgbClr val="47BDAF"/>
    <a:srgbClr val="696969"/>
    <a:srgbClr val="1C4D98"/>
    <a:srgbClr val="8BC431"/>
    <a:srgbClr val="97B6BA"/>
    <a:srgbClr val="24A8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668" y="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314EA8-B22A-4773-A71C-4EFEFDE5A041}" type="datetimeFigureOut">
              <a:rPr lang="en-IN" smtClean="0"/>
              <a:t>07-09-2026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F34BD7-7BD3-4A1E-9934-902E8FD454B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077799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F34BD7-7BD3-4A1E-9934-902E8FD454B2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256591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3F4D17B-9B25-2D63-E389-71163BD2C8E7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FC4ED1-FB42-4A6C-B292-B8C58946A8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35A630-145D-4232-9865-98341E30F7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708363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837F2-3C53-43E6-9F25-242D13C5A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02C3C5-9B28-493B-9422-74FF4AE180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704361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9B68FAD-9CFA-CBF0-4B37-9944C2E932A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D4B6E2-CC70-4366-ABC8-87480CC35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0D34EE-ED80-45A7-B964-53ED80D946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33036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3BCD6-D227-4C30-8364-6F161FA12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C3054-5604-4679-AF7D-07BF06BE01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47BA85-32D5-4EA3-9F8B-5A8B925174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96123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F33A1-3BE5-4F1B-8E70-0822549022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C4CAE0-72F2-4F22-A85A-772E3DA044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DE67E9-F76F-4049-98D4-82E9E7C800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332A94-E906-4159-9FE4-E63CFAE0BE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16D1AA-A642-4FEB-91F0-3F506A2AE8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393630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BF108-6EC2-4592-9D33-716E6B1AC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8267365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73876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62AB71-FC15-4C88-A99B-0D66CDCEEF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369B3E-A4BB-45D7-ABB7-1E151F04FE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FD4C72-B215-468A-8722-23007428B0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943301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42731-906B-40B4-86D3-CD7878598D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1042F1-26FD-477E-A079-62384AA43E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52E8FE-8F89-4D08-8341-786A0381BB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38541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B0375-D926-48D9-8605-813B1B64E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8D7657-21CC-45AA-A2CE-92653962FC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393649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A09EBA-4206-40BF-81B1-742CF8BD5B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B8BE7B-6EB1-4B41-A25B-B41833E5B2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11384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F7878D79-3823-9575-1C88-56C4110E1E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5996" y="1271219"/>
            <a:ext cx="10624338" cy="44456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2800" b="1" kern="1200" dirty="0">
                <a:solidFill>
                  <a:srgbClr val="0070C0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06C9D6B8-9A00-34FD-3E41-E67F07F278E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5996" y="629525"/>
            <a:ext cx="10624338" cy="444565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2800" b="1" kern="1200" dirty="0">
                <a:solidFill>
                  <a:srgbClr val="0070C0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</p:spTree>
    <p:extLst>
      <p:ext uri="{BB962C8B-B14F-4D97-AF65-F5344CB8AC3E}">
        <p14:creationId xmlns:p14="http://schemas.microsoft.com/office/powerpoint/2010/main" val="36477356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F7878D79-3823-9575-1C88-56C4110E1E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73803" y="469835"/>
            <a:ext cx="11672300" cy="650048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3200" b="1" kern="1200" dirty="0">
                <a:solidFill>
                  <a:srgbClr val="595959"/>
                </a:solidFill>
                <a:latin typeface="Frutiger 45 bold"/>
                <a:ea typeface="+mn-ea"/>
                <a:cs typeface="Calibri" panose="020F050202020403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en-US" dirty="0"/>
              <a:t>Title Here</a:t>
            </a:r>
          </a:p>
        </p:txBody>
      </p:sp>
    </p:spTree>
    <p:extLst>
      <p:ext uri="{BB962C8B-B14F-4D97-AF65-F5344CB8AC3E}">
        <p14:creationId xmlns:p14="http://schemas.microsoft.com/office/powerpoint/2010/main" val="24435425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3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microsoft.com/office/2007/relationships/hdphoto" Target="../media/hdphoto1.wdp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19" Type="http://schemas.microsoft.com/office/2007/relationships/hdphoto" Target="../media/hdphoto2.wdp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2D087FE-85BE-5152-9EB5-3B57AE38DD48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337544"/>
            <a:ext cx="12191994" cy="154830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EFA70D2-ADBF-0DD4-D7D1-F37201867E99}"/>
              </a:ext>
            </a:extLst>
          </p:cNvPr>
          <p:cNvSpPr/>
          <p:nvPr userDrawn="1"/>
        </p:nvSpPr>
        <p:spPr>
          <a:xfrm>
            <a:off x="0" y="0"/>
            <a:ext cx="12192000" cy="365125"/>
          </a:xfrm>
          <a:prstGeom prst="rect">
            <a:avLst/>
          </a:prstGeom>
          <a:gradFill>
            <a:gsLst>
              <a:gs pos="5000">
                <a:srgbClr val="47BDAE"/>
              </a:gs>
              <a:gs pos="59000">
                <a:srgbClr val="25B9ED"/>
              </a:gs>
              <a:gs pos="100000">
                <a:srgbClr val="FFFF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sz="2000" b="1" i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BC08DB-FBED-4A43-AE4B-B2CE371FE6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271" y="1191757"/>
            <a:ext cx="11004446" cy="47950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028" name="Picture 4" descr="LTIMindtree logo in transparent PNG and vectorized SVG formats">
            <a:extLst>
              <a:ext uri="{FF2B5EF4-FFF2-40B4-BE49-F238E27FC236}">
                <a16:creationId xmlns:a16="http://schemas.microsoft.com/office/drawing/2014/main" id="{21F70453-17DB-04F6-290A-DCDEF9FDE02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saturation sat="400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5387" y="6562429"/>
            <a:ext cx="1541059" cy="295571"/>
          </a:xfrm>
          <a:prstGeom prst="rect">
            <a:avLst/>
          </a:prstGeom>
          <a:noFill/>
        </p:spPr>
      </p:pic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DBDE3A73-7407-B3B5-0BC2-D13C973D143A}"/>
              </a:ext>
            </a:extLst>
          </p:cNvPr>
          <p:cNvSpPr txBox="1">
            <a:spLocks/>
          </p:cNvSpPr>
          <p:nvPr userDrawn="1"/>
        </p:nvSpPr>
        <p:spPr>
          <a:xfrm>
            <a:off x="221274" y="88514"/>
            <a:ext cx="8176583" cy="1103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70A0B4C8-C250-76C3-01DB-D728F6B32656}"/>
              </a:ext>
            </a:extLst>
          </p:cNvPr>
          <p:cNvSpPr txBox="1">
            <a:spLocks/>
          </p:cNvSpPr>
          <p:nvPr userDrawn="1"/>
        </p:nvSpPr>
        <p:spPr>
          <a:xfrm>
            <a:off x="391411" y="640135"/>
            <a:ext cx="11290305" cy="5237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Calibri (Body)"/>
            </a:endParaRP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349D7A90-F0A3-C216-D67E-9B86D1BECDF5}"/>
              </a:ext>
            </a:extLst>
          </p:cNvPr>
          <p:cNvSpPr txBox="1">
            <a:spLocks/>
          </p:cNvSpPr>
          <p:nvPr userDrawn="1"/>
        </p:nvSpPr>
        <p:spPr>
          <a:xfrm>
            <a:off x="158720" y="413891"/>
            <a:ext cx="10025576" cy="6859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83075D7-F006-A81F-68F1-A5F218FAF004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5554" y="6358271"/>
            <a:ext cx="964436" cy="411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04827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8D30BC0-07A3-DCDA-0D0B-DD40C2178A62}"/>
              </a:ext>
            </a:extLst>
          </p:cNvPr>
          <p:cNvSpPr/>
          <p:nvPr/>
        </p:nvSpPr>
        <p:spPr>
          <a:xfrm>
            <a:off x="-31269" y="29737"/>
            <a:ext cx="12254538" cy="6868389"/>
          </a:xfrm>
          <a:prstGeom prst="rect">
            <a:avLst/>
          </a:prstGeom>
          <a:gradFill>
            <a:gsLst>
              <a:gs pos="0">
                <a:srgbClr val="47BDAF"/>
              </a:gs>
              <a:gs pos="100000">
                <a:srgbClr val="3793A6"/>
              </a:gs>
              <a:gs pos="39000">
                <a:srgbClr val="1C4D98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utiger LT Pro 45 Light" panose="020B0403030504020204" pitchFamily="34" charset="0"/>
              <a:ea typeface="+mn-ea"/>
              <a:cs typeface="+mn-cs"/>
            </a:endParaRPr>
          </a:p>
        </p:txBody>
      </p:sp>
      <p:sp>
        <p:nvSpPr>
          <p:cNvPr id="14" name="Text Placeholder 1">
            <a:extLst>
              <a:ext uri="{FF2B5EF4-FFF2-40B4-BE49-F238E27FC236}">
                <a16:creationId xmlns:a16="http://schemas.microsoft.com/office/drawing/2014/main" id="{0741E81D-922F-23FE-07A9-320FA2B27E3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89635" y="17705"/>
            <a:ext cx="6910121" cy="1058125"/>
          </a:xfrm>
        </p:spPr>
        <p:txBody>
          <a:bodyPr/>
          <a:lstStyle/>
          <a:p>
            <a:pPr marL="0" indent="0" algn="ctr">
              <a:buNone/>
            </a:pPr>
            <a:r>
              <a:rPr lang="en-US" sz="4400" dirty="0">
                <a:solidFill>
                  <a:schemeClr val="bg1"/>
                </a:solidFill>
              </a:rPr>
              <a:t>M.Tech Program </a:t>
            </a:r>
          </a:p>
          <a:p>
            <a:pPr marL="0" indent="0" algn="ctr">
              <a:buNone/>
            </a:pPr>
            <a:r>
              <a:rPr lang="en-US" sz="2000" dirty="0">
                <a:solidFill>
                  <a:schemeClr val="bg1"/>
                </a:solidFill>
              </a:rPr>
              <a:t>Advanced Industry Integrated Programs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D19DFA2-C55E-F4D5-C53A-B5ECEB442DC1}"/>
              </a:ext>
            </a:extLst>
          </p:cNvPr>
          <p:cNvCxnSpPr/>
          <p:nvPr/>
        </p:nvCxnSpPr>
        <p:spPr>
          <a:xfrm>
            <a:off x="2977350" y="1120307"/>
            <a:ext cx="5866228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1AA452C-B3E6-7A79-FD46-04E813851A85}"/>
              </a:ext>
            </a:extLst>
          </p:cNvPr>
          <p:cNvSpPr/>
          <p:nvPr/>
        </p:nvSpPr>
        <p:spPr>
          <a:xfrm>
            <a:off x="4125951" y="1177578"/>
            <a:ext cx="3033131" cy="286036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Frutiger 45 bold"/>
                <a:ea typeface="+mn-ea"/>
                <a:cs typeface="Calibri" panose="020F0502020204030204" pitchFamily="34" charset="0"/>
              </a:rPr>
              <a:t>Jointly offered by University and LTIMindTree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8A8852-79FE-2D69-0530-D7712358063B}"/>
              </a:ext>
            </a:extLst>
          </p:cNvPr>
          <p:cNvSpPr txBox="1"/>
          <p:nvPr/>
        </p:nvSpPr>
        <p:spPr>
          <a:xfrm>
            <a:off x="180236" y="1659822"/>
            <a:ext cx="11428184" cy="4431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3600" b="1" dirty="0">
                <a:solidFill>
                  <a:prstClr val="white"/>
                </a:solidFill>
                <a:cs typeface="Calibri" panose="020F0502020204030204" pitchFamily="34" charset="0"/>
              </a:rPr>
              <a:t>Agentic AI Assistant for Architectural Design and Project Coordination</a:t>
            </a:r>
            <a:endParaRPr kumimoji="0" lang="en-US" sz="5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utiger 45 bold"/>
              <a:ea typeface="+mn-ea"/>
              <a:cs typeface="Calibri" panose="020F0502020204030204" pitchFamily="34" charset="0"/>
            </a:endParaRPr>
          </a:p>
          <a:p>
            <a:pPr lvl="0" algn="ctr">
              <a:defRPr/>
            </a:pPr>
            <a:endParaRPr kumimoji="0" lang="en-US" sz="5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utiger 45 bold"/>
              <a:ea typeface="+mn-ea"/>
              <a:cs typeface="Calibri" panose="020F0502020204030204" pitchFamily="34" charset="0"/>
            </a:endParaRPr>
          </a:p>
          <a:p>
            <a:pPr lvl="0" algn="ctr">
              <a:defRPr/>
            </a:pPr>
            <a:r>
              <a:rPr lang="en-US" sz="2400" b="1" dirty="0">
                <a:solidFill>
                  <a:prstClr val="white"/>
                </a:solidFill>
                <a:cs typeface="Calibri" panose="020F0502020204030204" pitchFamily="34" charset="0"/>
              </a:rPr>
              <a:t>Team Member</a:t>
            </a:r>
          </a:p>
          <a:p>
            <a:pPr algn="ctr">
              <a:defRPr/>
            </a:pPr>
            <a:r>
              <a:rPr lang="en-US" sz="2400" b="1" dirty="0">
                <a:solidFill>
                  <a:prstClr val="white"/>
                </a:solidFill>
                <a:cs typeface="Calibri" panose="020F0502020204030204" pitchFamily="34" charset="0"/>
              </a:rPr>
              <a:t>Rahi Sanxipt Mehta</a:t>
            </a:r>
          </a:p>
          <a:p>
            <a:pPr lvl="0" algn="ctr">
              <a:defRPr/>
            </a:pPr>
            <a:endParaRPr lang="en-US" sz="5400" b="1" dirty="0">
              <a:solidFill>
                <a:prstClr val="white"/>
              </a:solidFill>
              <a:latin typeface="Frutiger 45 bold"/>
              <a:cs typeface="Calibri" panose="020F0502020204030204" pitchFamily="34" charset="0"/>
            </a:endParaRPr>
          </a:p>
          <a:p>
            <a:pPr lvl="0" algn="ctr">
              <a:defRPr/>
            </a:pPr>
            <a:endParaRPr kumimoji="0" lang="en-US" sz="5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rutiger 45 bold"/>
              <a:ea typeface="+mn-ea"/>
              <a:cs typeface="Calibri" panose="020F0502020204030204" pitchFamily="34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E7F5D19-19F4-F87F-17C2-8520612BCFEC}"/>
              </a:ext>
            </a:extLst>
          </p:cNvPr>
          <p:cNvGraphicFramePr>
            <a:graphicFrameLocks noGrp="1"/>
          </p:cNvGraphicFramePr>
          <p:nvPr/>
        </p:nvGraphicFramePr>
        <p:xfrm>
          <a:off x="-47290" y="5501244"/>
          <a:ext cx="12239216" cy="326483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119608">
                  <a:extLst>
                    <a:ext uri="{9D8B030D-6E8A-4147-A177-3AD203B41FA5}">
                      <a16:colId xmlns:a16="http://schemas.microsoft.com/office/drawing/2014/main" val="586572480"/>
                    </a:ext>
                  </a:extLst>
                </a:gridCol>
                <a:gridCol w="6119608">
                  <a:extLst>
                    <a:ext uri="{9D8B030D-6E8A-4147-A177-3AD203B41FA5}">
                      <a16:colId xmlns:a16="http://schemas.microsoft.com/office/drawing/2014/main" val="157907922"/>
                    </a:ext>
                  </a:extLst>
                </a:gridCol>
              </a:tblGrid>
              <a:tr h="15274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Frutiger 45 bold"/>
                          <a:cs typeface="Calibri" panose="020F0502020204030204" pitchFamily="34" charset="0"/>
                        </a:rPr>
                        <a:t>Knowledge partner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Frutiger 45 bold"/>
                          <a:cs typeface="Calibri" panose="020F0502020204030204" pitchFamily="34" charset="0"/>
                        </a:rPr>
                        <a:t>                                                                     Implementation partner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33668230"/>
                  </a:ext>
                </a:extLst>
              </a:tr>
              <a:tr h="1184198">
                <a:tc>
                  <a:txBody>
                    <a:bodyPr/>
                    <a:lstStyle/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66263768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2715C658-0B94-5B63-55F1-B9B6F645F0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5332" y="5852667"/>
            <a:ext cx="1987468" cy="847417"/>
          </a:xfrm>
          <a:prstGeom prst="rect">
            <a:avLst/>
          </a:prstGeom>
        </p:spPr>
      </p:pic>
      <p:pic>
        <p:nvPicPr>
          <p:cNvPr id="11" name="Picture 10" descr="LTM Limited logo (transparent PNG)">
            <a:extLst>
              <a:ext uri="{FF2B5EF4-FFF2-40B4-BE49-F238E27FC236}">
                <a16:creationId xmlns:a16="http://schemas.microsoft.com/office/drawing/2014/main" id="{62044396-ACC6-D6D9-7DA7-AC51982527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20" y="5883180"/>
            <a:ext cx="3180375" cy="847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9507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18EFD-13D1-118F-A8E4-F9E2D3695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7726612-73E0-5A94-F635-3A742DD5BA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5996" y="1271219"/>
            <a:ext cx="10624338" cy="4142989"/>
          </a:xfrm>
        </p:spPr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GB" b="0" dirty="0">
                <a:solidFill>
                  <a:srgbClr val="5583D1"/>
                </a:solidFill>
                <a:latin typeface="+mn-lt"/>
              </a:rPr>
              <a:t>Architecture projects involve fragmented information, repetitive coordination tasks, multiple design-reviews, and research across multiple sources. Currently, all this is done manually by architects or stakeholders, which creates unnecessary effort and makes it difficult and time-consuming to maintain consistent project context.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b="0" dirty="0">
                <a:solidFill>
                  <a:srgbClr val="5583D1"/>
                </a:solidFill>
                <a:latin typeface="+mn-lt"/>
              </a:rPr>
              <a:t>This project aims to address this by creating an AI-powered architectural assistant capable of understanding project context, using specialized tools, performing multi-step tasks, and assisting users throughout common architectural design and coordination workflows.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4E3812-AF2F-9DD8-6ECF-C3425146B38F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Introduction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295426A-3395-FE92-30C7-C8A6AC62DE62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D91B1D4-191E-E882-BD37-9FBAED57B57F}"/>
              </a:ext>
            </a:extLst>
          </p:cNvPr>
          <p:cNvSpPr txBox="1"/>
          <p:nvPr/>
        </p:nvSpPr>
        <p:spPr>
          <a:xfrm>
            <a:off x="6093893" y="57036"/>
            <a:ext cx="6098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b="1" i="1" dirty="0">
                <a:solidFill>
                  <a:srgbClr val="FFFFFF"/>
                </a:solidFill>
              </a:rPr>
              <a:t>Agentic AI Assistant for Architectural Design and Project Coordination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81806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D1235D-73A1-0B84-0745-6B97432CB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4D551BF-43EB-C049-6D3B-4D17D57752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5996" y="1271219"/>
            <a:ext cx="10624338" cy="414298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GB" b="0" dirty="0">
                <a:solidFill>
                  <a:srgbClr val="5583D1"/>
                </a:solidFill>
              </a:rPr>
              <a:t>Develop a project-aware AI Assistant. </a:t>
            </a:r>
          </a:p>
          <a:p>
            <a:pPr>
              <a:lnSpc>
                <a:spcPct val="100000"/>
              </a:lnSpc>
            </a:pPr>
            <a:r>
              <a:rPr lang="en-GB" b="0" dirty="0">
                <a:solidFill>
                  <a:srgbClr val="5583D1"/>
                </a:solidFill>
              </a:rPr>
              <a:t>Enable autonomous tool-based task execution. </a:t>
            </a:r>
          </a:p>
          <a:p>
            <a:pPr>
              <a:lnSpc>
                <a:spcPct val="100000"/>
              </a:lnSpc>
            </a:pPr>
            <a:r>
              <a:rPr lang="en-GB" b="0" dirty="0">
                <a:solidFill>
                  <a:srgbClr val="5583D1"/>
                </a:solidFill>
              </a:rPr>
              <a:t>Provide AI-based architectural design reviews. </a:t>
            </a:r>
          </a:p>
          <a:p>
            <a:pPr>
              <a:lnSpc>
                <a:spcPct val="100000"/>
              </a:lnSpc>
            </a:pPr>
            <a:r>
              <a:rPr lang="en-GB" b="0" dirty="0">
                <a:solidFill>
                  <a:srgbClr val="5583D1"/>
                </a:solidFill>
              </a:rPr>
              <a:t>Automate architectural research and coordination.</a:t>
            </a:r>
            <a:endParaRPr lang="en-US" b="0" dirty="0">
              <a:solidFill>
                <a:srgbClr val="5583D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FF40D3-B05A-88C3-591F-882A93FC9918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Objective	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2740D4D-2363-70E1-0E6E-1BDDA8C33C87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4452DD5-D934-4955-F39B-2109AC72692F}"/>
              </a:ext>
            </a:extLst>
          </p:cNvPr>
          <p:cNvSpPr txBox="1"/>
          <p:nvPr/>
        </p:nvSpPr>
        <p:spPr>
          <a:xfrm>
            <a:off x="6093893" y="57036"/>
            <a:ext cx="6098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b="1" i="1" dirty="0">
                <a:solidFill>
                  <a:srgbClr val="FFFFFF"/>
                </a:solidFill>
              </a:rPr>
              <a:t>Agentic AI Assistant for Architectural Design and Project Coordination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9450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2D7CD-C158-6FC1-06C7-09444D2DE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325C8EF-A5DD-AB22-0372-51B9ABE635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5996" y="1271219"/>
            <a:ext cx="10624338" cy="414298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sz="2400" b="0" dirty="0">
                <a:solidFill>
                  <a:srgbClr val="5583D1"/>
                </a:solidFill>
              </a:rPr>
              <a:t>Application: A web-based platform for creating architectural projects and uploading relevant BIM/PDF documents. </a:t>
            </a:r>
          </a:p>
          <a:p>
            <a:pPr>
              <a:lnSpc>
                <a:spcPct val="100000"/>
              </a:lnSpc>
            </a:pPr>
            <a:r>
              <a:rPr lang="en-US" sz="2400" b="0" dirty="0">
                <a:solidFill>
                  <a:srgbClr val="5583D1"/>
                </a:solidFill>
              </a:rPr>
              <a:t>Search &amp; Retrieval: Semantic search across architectural building codes. </a:t>
            </a:r>
          </a:p>
          <a:p>
            <a:pPr>
              <a:lnSpc>
                <a:spcPct val="100000"/>
              </a:lnSpc>
            </a:pPr>
            <a:r>
              <a:rPr lang="en-US" sz="2400" b="0" dirty="0">
                <a:solidFill>
                  <a:srgbClr val="5583D1"/>
                </a:solidFill>
              </a:rPr>
              <a:t>Automation: Automated compliance auditing of floor plan datasets . </a:t>
            </a:r>
          </a:p>
          <a:p>
            <a:pPr>
              <a:lnSpc>
                <a:spcPct val="100000"/>
              </a:lnSpc>
            </a:pPr>
            <a:r>
              <a:rPr lang="en-US" sz="2400" b="0" dirty="0">
                <a:solidFill>
                  <a:srgbClr val="5583D1"/>
                </a:solidFill>
              </a:rPr>
              <a:t>Architecture: Integration of a multi-agent orchestration framework utilizing a local LLM for privacy and offline capability.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15F4B8-EED0-F7BE-96C7-D7AAE989A251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Scope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A882B44-FCE4-BF93-E951-46CF2238FB74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CE164B1-01DD-BF3B-88E8-DF2DEDBFA9EB}"/>
              </a:ext>
            </a:extLst>
          </p:cNvPr>
          <p:cNvSpPr txBox="1"/>
          <p:nvPr/>
        </p:nvSpPr>
        <p:spPr>
          <a:xfrm>
            <a:off x="6093893" y="57036"/>
            <a:ext cx="6098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b="1" i="1" dirty="0">
                <a:solidFill>
                  <a:srgbClr val="FFFFFF"/>
                </a:solidFill>
              </a:rPr>
              <a:t>Agentic AI Assistant for Architectural Design and Project Coordination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4681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69C03-8E92-54D7-6EE2-33DC2B5C6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B433ECB-8EAD-0AB5-1D66-62BCF658AA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5996" y="1271219"/>
            <a:ext cx="10624338" cy="4677296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b="0" dirty="0">
                <a:solidFill>
                  <a:srgbClr val="5583D1"/>
                </a:solidFill>
                <a:latin typeface="+mn-lt"/>
              </a:rPr>
              <a:t>Multi-Agent Orchestration: Exploring state-machine based agent coordination (LangGraph) for deterministic execution of complex architectural tasks. </a:t>
            </a:r>
          </a:p>
          <a:p>
            <a:pPr>
              <a:lnSpc>
                <a:spcPct val="100000"/>
              </a:lnSpc>
            </a:pPr>
            <a:r>
              <a:rPr lang="en-US" b="0" dirty="0">
                <a:solidFill>
                  <a:srgbClr val="5583D1"/>
                </a:solidFill>
                <a:latin typeface="+mn-lt"/>
              </a:rPr>
              <a:t>RAG for Regulatory Documents: Utilizing Retrieval-Augmented Generation and Vector Databases (Chroma DB) to accurately parse and retrieve complex legal and dimensional requirements from building codes. </a:t>
            </a:r>
          </a:p>
          <a:p>
            <a:pPr>
              <a:lnSpc>
                <a:spcPct val="100000"/>
              </a:lnSpc>
            </a:pPr>
            <a:r>
              <a:rPr lang="en-US" b="0" dirty="0">
                <a:solidFill>
                  <a:srgbClr val="5583D1"/>
                </a:solidFill>
                <a:latin typeface="+mn-lt"/>
              </a:rPr>
              <a:t>Architectural Data Processing: Techniques for extracting data from diverse architectural formats (PDFs, DOCX, IFC files) using PyMuPDF and ifcopenshell.</a:t>
            </a:r>
            <a:endParaRPr lang="en-US" b="0" dirty="0">
              <a:solidFill>
                <a:srgbClr val="5583D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B3663C-4C71-EB2A-170D-22878BAC4C68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Literature Review…. Calibri body -36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91B76A7-3EE1-470C-EBA7-8F98E8FFE105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84F4041-8131-3536-FDDF-513CA3ABA637}"/>
              </a:ext>
            </a:extLst>
          </p:cNvPr>
          <p:cNvSpPr txBox="1"/>
          <p:nvPr/>
        </p:nvSpPr>
        <p:spPr>
          <a:xfrm>
            <a:off x="6093893" y="57036"/>
            <a:ext cx="6098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b="1" i="1" dirty="0">
                <a:solidFill>
                  <a:srgbClr val="FFFFFF"/>
                </a:solidFill>
              </a:rPr>
              <a:t>Agentic AI Assistant for Architectural Design and Project Coordination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07650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53C69-472F-A80F-ECBC-553E043DB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364AF3A-1BAA-BB19-865F-8604C4E3B8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5996" y="1271219"/>
            <a:ext cx="10624338" cy="4142989"/>
          </a:xfrm>
        </p:spPr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US" b="0" dirty="0">
                <a:solidFill>
                  <a:srgbClr val="5583D1"/>
                </a:solidFill>
                <a:latin typeface="+mn-lt"/>
              </a:rPr>
              <a:t>Current architectural software lacks intelligent, context-aware automation. While standalone LLMs are prone to hallucination, combining them with a Retrieval-Augmented Generation (RAG) pipeline and a robust multi-agent framework ensures grounded, accurate responses based on strict building codes. Furthermore, integrating local execution models (Ollama) addresses critical data privacy concerns inherent in proprietary architectural designs.</a:t>
            </a:r>
            <a:endParaRPr lang="en-US" b="0" dirty="0">
              <a:solidFill>
                <a:srgbClr val="5583D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C2521A-B8A4-7818-FEB4-0309182DBECF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Summary of Literature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6871527-EAED-D60A-DB4D-12A2CE4201DE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EADF6DB-6CFE-DDC5-997C-E84EE1A9470D}"/>
              </a:ext>
            </a:extLst>
          </p:cNvPr>
          <p:cNvSpPr txBox="1"/>
          <p:nvPr/>
        </p:nvSpPr>
        <p:spPr>
          <a:xfrm>
            <a:off x="6093893" y="57036"/>
            <a:ext cx="6098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b="1" i="1" dirty="0">
                <a:solidFill>
                  <a:srgbClr val="FFFFFF"/>
                </a:solidFill>
              </a:rPr>
              <a:t>Agentic AI Assistant for Architectural Design and Project Coordination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47033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CEA2B-384E-F256-4734-5578EDB52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0F88864-2E71-2992-AD53-E894883727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5996" y="1271219"/>
            <a:ext cx="10624338" cy="414298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b="0" dirty="0">
                <a:solidFill>
                  <a:srgbClr val="5583D1"/>
                </a:solidFill>
                <a:latin typeface="+mn-lt"/>
              </a:rPr>
              <a:t>Tech Stack: LangGraph, Ollama (Llama 3.1), Streamlit (Frontend), </a:t>
            </a:r>
            <a:r>
              <a:rPr lang="en-US" b="0" dirty="0" err="1">
                <a:solidFill>
                  <a:srgbClr val="5583D1"/>
                </a:solidFill>
                <a:latin typeface="+mn-lt"/>
              </a:rPr>
              <a:t>FastAPI</a:t>
            </a:r>
            <a:r>
              <a:rPr lang="en-US" b="0" dirty="0">
                <a:solidFill>
                  <a:srgbClr val="5583D1"/>
                </a:solidFill>
                <a:latin typeface="+mn-lt"/>
              </a:rPr>
              <a:t> (Backend), PostgreSQL, </a:t>
            </a:r>
            <a:r>
              <a:rPr lang="en-US" b="0" dirty="0" err="1">
                <a:solidFill>
                  <a:srgbClr val="5583D1"/>
                </a:solidFill>
                <a:latin typeface="+mn-lt"/>
              </a:rPr>
              <a:t>MinIO</a:t>
            </a:r>
            <a:r>
              <a:rPr lang="en-US" b="0" dirty="0">
                <a:solidFill>
                  <a:srgbClr val="5583D1"/>
                </a:solidFill>
                <a:latin typeface="+mn-lt"/>
              </a:rPr>
              <a:t>, </a:t>
            </a:r>
            <a:r>
              <a:rPr lang="en-US" b="0" dirty="0" err="1">
                <a:solidFill>
                  <a:srgbClr val="5583D1"/>
                </a:solidFill>
                <a:latin typeface="+mn-lt"/>
              </a:rPr>
              <a:t>ChromaDB</a:t>
            </a:r>
            <a:r>
              <a:rPr lang="en-US" b="0" dirty="0">
                <a:solidFill>
                  <a:srgbClr val="5583D1"/>
                </a:solidFill>
                <a:latin typeface="+mn-lt"/>
              </a:rPr>
              <a:t>, </a:t>
            </a:r>
            <a:r>
              <a:rPr lang="en-US" b="0" dirty="0" err="1">
                <a:solidFill>
                  <a:srgbClr val="5583D1"/>
                </a:solidFill>
                <a:latin typeface="+mn-lt"/>
              </a:rPr>
              <a:t>MLflow</a:t>
            </a:r>
            <a:r>
              <a:rPr lang="en-US" b="0" dirty="0">
                <a:solidFill>
                  <a:srgbClr val="5583D1"/>
                </a:solidFill>
                <a:latin typeface="+mn-lt"/>
              </a:rPr>
              <a:t>. </a:t>
            </a:r>
          </a:p>
          <a:p>
            <a:pPr>
              <a:lnSpc>
                <a:spcPct val="100000"/>
              </a:lnSpc>
            </a:pPr>
            <a:r>
              <a:rPr lang="en-US" b="0" dirty="0">
                <a:solidFill>
                  <a:srgbClr val="5583D1"/>
                </a:solidFill>
                <a:latin typeface="+mn-lt"/>
              </a:rPr>
              <a:t>Datasets: Custom dataset including public architecture documents, CubiCasa5k (floor plans), project scenarios, and agent evaluation datasets. </a:t>
            </a:r>
          </a:p>
          <a:p>
            <a:pPr>
              <a:lnSpc>
                <a:spcPct val="100000"/>
              </a:lnSpc>
            </a:pPr>
            <a:r>
              <a:rPr lang="en-US" b="0" dirty="0">
                <a:solidFill>
                  <a:srgbClr val="5583D1"/>
                </a:solidFill>
                <a:latin typeface="+mn-lt"/>
              </a:rPr>
              <a:t>Expected Outcome: A unified platform delivering structured compliance reports, contextual recommendations, and automated code research.</a:t>
            </a:r>
            <a:endParaRPr lang="en-US" sz="2400" b="0" dirty="0">
              <a:solidFill>
                <a:srgbClr val="5583D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11E118-0427-BF72-3B78-1707B0D6E382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Additional Information…. Calibri body -36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A5618F6-CE69-311A-F79A-D12C7E917449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4F7A196-7B69-DD68-52A5-39CD9B799F7D}"/>
              </a:ext>
            </a:extLst>
          </p:cNvPr>
          <p:cNvSpPr txBox="1"/>
          <p:nvPr/>
        </p:nvSpPr>
        <p:spPr>
          <a:xfrm>
            <a:off x="6093893" y="57036"/>
            <a:ext cx="6098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b="1" i="1" dirty="0">
                <a:solidFill>
                  <a:srgbClr val="FFFFFF"/>
                </a:solidFill>
              </a:rPr>
              <a:t>Agentic AI Assistant for Architectural Design and Project Coordination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9362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24291B-7EDA-4E3D-40F5-03FDC22C33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5996" y="1271219"/>
            <a:ext cx="10624338" cy="4142989"/>
          </a:xfrm>
        </p:spPr>
        <p:txBody>
          <a:bodyPr/>
          <a:lstStyle/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 dirty="0">
                <a:solidFill>
                  <a:srgbClr val="5583D1"/>
                </a:solidFill>
                <a:latin typeface="Calibri (Body)"/>
              </a:rPr>
              <a:t>Module 1: Project Setup &amp; Knowledge Base Ingestion 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 dirty="0">
                <a:solidFill>
                  <a:srgbClr val="5583D1"/>
                </a:solidFill>
                <a:latin typeface="Calibri (Body)"/>
              </a:rPr>
              <a:t>Module 2: Multi-Agent Orchestration Engine (LangGraph) 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 dirty="0">
                <a:solidFill>
                  <a:srgbClr val="5583D1"/>
                </a:solidFill>
                <a:latin typeface="Calibri (Body)"/>
              </a:rPr>
              <a:t>Module 3: Architectural Design Review Pipeline 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 dirty="0">
                <a:solidFill>
                  <a:srgbClr val="5583D1"/>
                </a:solidFill>
                <a:latin typeface="Calibri (Body)"/>
              </a:rPr>
              <a:t>Module 4: Agent Evaluation &amp; Performance Tracking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EA9B7F-B60D-6297-DC95-0FDA7E6D7C7C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5B9BD5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Modules to cover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5CD5B67-3503-60B5-8469-F3C3191D84D7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5D4A0452-2CB8-E4C6-FAC7-ECD109C50CE1}"/>
              </a:ext>
            </a:extLst>
          </p:cNvPr>
          <p:cNvSpPr txBox="1"/>
          <p:nvPr/>
        </p:nvSpPr>
        <p:spPr>
          <a:xfrm>
            <a:off x="6093893" y="57036"/>
            <a:ext cx="6098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b="1" i="1" dirty="0">
                <a:solidFill>
                  <a:srgbClr val="FFFFFF"/>
                </a:solidFill>
              </a:rPr>
              <a:t>Agentic AI Assistant for Architectural Design and Project Coordination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3643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24291B-7EDA-4E3D-40F5-03FDC22C33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5583D1"/>
                </a:solidFill>
                <a:latin typeface="+mn-lt"/>
              </a:rPr>
              <a:t>Subtopic - UI Development &amp; Data Pipeline</a:t>
            </a:r>
          </a:p>
          <a:p>
            <a:pPr lvl="1"/>
            <a:r>
              <a:rPr lang="en-GB" dirty="0">
                <a:solidFill>
                  <a:srgbClr val="1C3898"/>
                </a:solidFill>
              </a:rPr>
              <a:t>Development of a Streamlit frontend for project creation, constraint definition, and chat interaction. </a:t>
            </a:r>
          </a:p>
          <a:p>
            <a:pPr lvl="1"/>
            <a:r>
              <a:rPr lang="en-GB" dirty="0">
                <a:solidFill>
                  <a:srgbClr val="1C3898"/>
                </a:solidFill>
              </a:rPr>
              <a:t>Implementation of a document upload pipeline for architectural drawings (IFC) and regulatory texts (PDF, DOCX). </a:t>
            </a:r>
          </a:p>
          <a:p>
            <a:pPr lvl="1"/>
            <a:r>
              <a:rPr lang="en-GB" dirty="0">
                <a:solidFill>
                  <a:srgbClr val="1C3898"/>
                </a:solidFill>
              </a:rPr>
              <a:t>Automated parsing, chunking, and indexing of building codes into a </a:t>
            </a:r>
            <a:r>
              <a:rPr lang="en-GB" dirty="0" err="1">
                <a:solidFill>
                  <a:srgbClr val="1C3898"/>
                </a:solidFill>
              </a:rPr>
              <a:t>ChromaDB</a:t>
            </a:r>
            <a:r>
              <a:rPr lang="en-GB" dirty="0">
                <a:solidFill>
                  <a:srgbClr val="1C3898"/>
                </a:solidFill>
              </a:rPr>
              <a:t> vector store.</a:t>
            </a:r>
            <a:endParaRPr lang="en-US" dirty="0">
              <a:solidFill>
                <a:srgbClr val="1C3898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EA9B7F-B60D-6297-DC95-0FDA7E6D7C7C}"/>
              </a:ext>
            </a:extLst>
          </p:cNvPr>
          <p:cNvSpPr txBox="1"/>
          <p:nvPr/>
        </p:nvSpPr>
        <p:spPr>
          <a:xfrm>
            <a:off x="255996" y="502545"/>
            <a:ext cx="10624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600" b="1" dirty="0">
                <a:solidFill>
                  <a:srgbClr val="5B9BD5">
                    <a:lumMod val="50000"/>
                  </a:srgbClr>
                </a:solidFill>
                <a:latin typeface="Calibri" panose="020F0502020204030204"/>
              </a:rPr>
              <a:t>Module name -</a:t>
            </a:r>
            <a:r>
              <a:rPr lang="en-US" sz="3600" b="1" dirty="0">
                <a:solidFill>
                  <a:srgbClr val="5B9BD5">
                    <a:lumMod val="50000"/>
                  </a:srgbClr>
                </a:solidFill>
              </a:rPr>
              <a:t> Project Setup &amp; Knowledge Base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srgbClr val="5B9BD5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6F77F89-4F98-73F2-FD5A-5DD416A6F12F}"/>
              </a:ext>
            </a:extLst>
          </p:cNvPr>
          <p:cNvCxnSpPr>
            <a:cxnSpLocks/>
          </p:cNvCxnSpPr>
          <p:nvPr/>
        </p:nvCxnSpPr>
        <p:spPr>
          <a:xfrm>
            <a:off x="221274" y="1191756"/>
            <a:ext cx="7305799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5221164-7940-3B34-A613-28A74A63E0F7}"/>
              </a:ext>
            </a:extLst>
          </p:cNvPr>
          <p:cNvSpPr txBox="1"/>
          <p:nvPr/>
        </p:nvSpPr>
        <p:spPr>
          <a:xfrm>
            <a:off x="6093893" y="57036"/>
            <a:ext cx="6098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b="1" i="1" dirty="0">
                <a:solidFill>
                  <a:srgbClr val="FFFFFF"/>
                </a:solidFill>
              </a:rPr>
              <a:t>Agentic AI Assistant for Architectural Design and Project Coordination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75862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264</TotalTime>
  <Words>597</Words>
  <Application>Microsoft Office PowerPoint</Application>
  <PresentationFormat>Widescreen</PresentationFormat>
  <Paragraphs>55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Aptos</vt:lpstr>
      <vt:lpstr>Arial</vt:lpstr>
      <vt:lpstr>Calibri</vt:lpstr>
      <vt:lpstr>Calibri (Body)</vt:lpstr>
      <vt:lpstr>Frutiger 45 bold</vt:lpstr>
      <vt:lpstr>Frutiger LT Pro 45 Light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HARI PRASATH</dc:creator>
  <cp:lastModifiedBy>Rahi Sanxipt Mehta</cp:lastModifiedBy>
  <cp:revision>11</cp:revision>
  <dcterms:created xsi:type="dcterms:W3CDTF">2024-05-13T10:33:11Z</dcterms:created>
  <dcterms:modified xsi:type="dcterms:W3CDTF">2026-09-06T23:22:10Z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c52bb50-aef2-4dc8-bb7f-e0da22648362_Enabled">
    <vt:lpwstr>true</vt:lpwstr>
  </property>
  <property fmtid="{D5CDD505-2E9C-101B-9397-08002B2CF9AE}" pid="3" name="MSIP_Label_ac52bb50-aef2-4dc8-bb7f-e0da22648362_SetDate">
    <vt:lpwstr>2025-08-25T08:11:33Z</vt:lpwstr>
  </property>
  <property fmtid="{D5CDD505-2E9C-101B-9397-08002B2CF9AE}" pid="4" name="MSIP_Label_ac52bb50-aef2-4dc8-bb7f-e0da22648362_Method">
    <vt:lpwstr>Standard</vt:lpwstr>
  </property>
  <property fmtid="{D5CDD505-2E9C-101B-9397-08002B2CF9AE}" pid="5" name="MSIP_Label_ac52bb50-aef2-4dc8-bb7f-e0da22648362_Name">
    <vt:lpwstr>ac52bb50-aef2-4dc8-bb7f-e0da22648362</vt:lpwstr>
  </property>
  <property fmtid="{D5CDD505-2E9C-101B-9397-08002B2CF9AE}" pid="6" name="MSIP_Label_ac52bb50-aef2-4dc8-bb7f-e0da22648362_SiteId">
    <vt:lpwstr>264b9899-fe1b-430b-9509-2154878d5774</vt:lpwstr>
  </property>
  <property fmtid="{D5CDD505-2E9C-101B-9397-08002B2CF9AE}" pid="7" name="MSIP_Label_ac52bb50-aef2-4dc8-bb7f-e0da22648362_ActionId">
    <vt:lpwstr>5a5317b9-6049-4f38-9ea6-5786aca62bc4</vt:lpwstr>
  </property>
  <property fmtid="{D5CDD505-2E9C-101B-9397-08002B2CF9AE}" pid="8" name="MSIP_Label_ac52bb50-aef2-4dc8-bb7f-e0da22648362_ContentBits">
    <vt:lpwstr>2</vt:lpwstr>
  </property>
  <property fmtid="{D5CDD505-2E9C-101B-9397-08002B2CF9AE}" pid="9" name="MSIP_Label_ac52bb50-aef2-4dc8-bb7f-e0da22648362_Tag">
    <vt:lpwstr>10, 3, 0, 1</vt:lpwstr>
  </property>
  <property fmtid="{D5CDD505-2E9C-101B-9397-08002B2CF9AE}" pid="10" name="ClassificationContentMarkingFooterLocations">
    <vt:lpwstr>1_Office Theme:8</vt:lpwstr>
  </property>
  <property fmtid="{D5CDD505-2E9C-101B-9397-08002B2CF9AE}" pid="11" name="ClassificationContentMarkingFooterText">
    <vt:lpwstr>Sensitivity: LNT Construction Internal Use</vt:lpwstr>
  </property>
</Properties>
</file>