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147470489" r:id="rId2"/>
    <p:sldId id="2147470492" r:id="rId3"/>
    <p:sldId id="2147470493" r:id="rId4"/>
    <p:sldId id="2147470494" r:id="rId5"/>
    <p:sldId id="2147470495" r:id="rId6"/>
    <p:sldId id="2147470496" r:id="rId7"/>
    <p:sldId id="2147470497" r:id="rId8"/>
    <p:sldId id="2147470491" r:id="rId9"/>
    <p:sldId id="2147470487"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314EA8-B22A-4773-A71C-4EFEFDE5A041}" type="datetimeFigureOut">
              <a:rPr lang="en-IN" smtClean="0"/>
              <a:t>11-09-2026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F34BD7-7BD3-4A1E-9934-902E8FD454B2}" type="slidenum">
              <a:rPr lang="en-IN" smtClean="0"/>
              <a:t>‹#›</a:t>
            </a:fld>
            <a:endParaRPr lang="en-IN"/>
          </a:p>
        </p:txBody>
      </p:sp>
    </p:spTree>
    <p:extLst>
      <p:ext uri="{BB962C8B-B14F-4D97-AF65-F5344CB8AC3E}">
        <p14:creationId xmlns:p14="http://schemas.microsoft.com/office/powerpoint/2010/main" val="807779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F34BD7-7BD3-4A1E-9934-902E8FD454B2}" type="slidenum">
              <a:rPr lang="en-IN" smtClean="0"/>
              <a:t>2</a:t>
            </a:fld>
            <a:endParaRPr lang="en-IN"/>
          </a:p>
        </p:txBody>
      </p:sp>
    </p:spTree>
    <p:extLst>
      <p:ext uri="{BB962C8B-B14F-4D97-AF65-F5344CB8AC3E}">
        <p14:creationId xmlns:p14="http://schemas.microsoft.com/office/powerpoint/2010/main" val="1925659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2769989"/>
          </a:xfrm>
          <a:prstGeom prst="rect">
            <a:avLst/>
          </a:prstGeom>
          <a:noFill/>
        </p:spPr>
        <p:txBody>
          <a:bodyPr wrap="square">
            <a:spAutoFit/>
          </a:bodyPr>
          <a:lstStyle/>
          <a:p>
            <a:pPr lvl="0" algn="ctr">
              <a:defRPr/>
            </a:pPr>
            <a:r>
              <a:rPr lang="en-GB" sz="3600" b="1" dirty="0">
                <a:solidFill>
                  <a:prstClr val="white"/>
                </a:solidFill>
                <a:latin typeface="Calibri (Body)"/>
                <a:cs typeface="Calibri" panose="020F0502020204030204" pitchFamily="34" charset="0"/>
              </a:rPr>
              <a:t>Agentic AI Assistant for Architectural Design and Project Coordination</a:t>
            </a:r>
            <a:endParaRPr lang="en-US" sz="5400" b="1" dirty="0">
              <a:solidFill>
                <a:prstClr val="white"/>
              </a:solidFill>
              <a:latin typeface="Calibri (Body)"/>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Calibri (Body)"/>
              <a:cs typeface="Calibri" panose="020F0502020204030204" pitchFamily="34" charset="0"/>
            </a:endParaRPr>
          </a:p>
          <a:p>
            <a:pPr algn="ctr">
              <a:defRPr/>
            </a:pPr>
            <a:r>
              <a:rPr lang="en-US" sz="2400" b="1" dirty="0">
                <a:solidFill>
                  <a:prstClr val="white"/>
                </a:solidFill>
                <a:latin typeface="Calibri (Body)"/>
                <a:cs typeface="Calibri" panose="020F0502020204030204" pitchFamily="34" charset="0"/>
              </a:rPr>
              <a:t>Rahi Sanxipt Mehta</a:t>
            </a:r>
          </a:p>
          <a:p>
            <a:pPr algn="ctr">
              <a:defRPr/>
            </a:pPr>
            <a:r>
              <a:rPr lang="en-US" sz="2400" b="1" dirty="0">
                <a:solidFill>
                  <a:prstClr val="white"/>
                </a:solidFill>
                <a:latin typeface="Calibri (Body)"/>
                <a:cs typeface="Calibri" panose="020F0502020204030204" pitchFamily="34" charset="0"/>
              </a:rPr>
              <a:t>VIT Chennai</a:t>
            </a: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11" name="Picture 10" descr="LTM Limited logo (transparent PNG)">
            <a:extLst>
              <a:ext uri="{FF2B5EF4-FFF2-40B4-BE49-F238E27FC236}">
                <a16:creationId xmlns:a16="http://schemas.microsoft.com/office/drawing/2014/main" id="{62044396-ACC6-D6D9-7DA7-AC5198252731}"/>
              </a:ext>
            </a:extLst>
          </p:cNvPr>
          <p:cNvPicPr>
            <a:picLocks noChangeAspect="1"/>
          </p:cNvPicPr>
          <p:nvPr/>
        </p:nvPicPr>
        <p:blipFill>
          <a:blip r:embed="rId3"/>
          <a:stretch>
            <a:fillRect/>
          </a:stretch>
        </p:blipFill>
        <p:spPr>
          <a:xfrm>
            <a:off x="45520" y="5883180"/>
            <a:ext cx="3180375" cy="847416"/>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0624338" cy="4142989"/>
          </a:xfrm>
        </p:spPr>
        <p:txBody>
          <a:bodyPr/>
          <a:lstStyle/>
          <a:p>
            <a:pPr marL="0" indent="0">
              <a:lnSpc>
                <a:spcPct val="100000"/>
              </a:lnSpc>
              <a:buNone/>
            </a:pPr>
            <a:r>
              <a:rPr lang="en-GB" b="0" dirty="0">
                <a:solidFill>
                  <a:srgbClr val="5583D1"/>
                </a:solidFill>
                <a:latin typeface="+mn-lt"/>
              </a:rPr>
              <a:t>Architecture projects involve fragmented information, repetitive coordination tasks, multiple design-reviews, and research across multiple sources. Currently, all this is done manually by architects or stakeholders, which creates unnecessary effort and makes it difficult and time-consuming to maintain consistent project context.</a:t>
            </a:r>
          </a:p>
          <a:p>
            <a:pPr marL="0" indent="0">
              <a:lnSpc>
                <a:spcPct val="100000"/>
              </a:lnSpc>
              <a:buNone/>
            </a:pPr>
            <a:r>
              <a:rPr lang="en-GB" b="0" dirty="0">
                <a:solidFill>
                  <a:srgbClr val="5583D1"/>
                </a:solidFill>
                <a:latin typeface="+mn-lt"/>
              </a:rPr>
              <a:t>This project aims to address this by creating an AI-powered architectural assistant capable of understanding project context, using specialized tools, performing multi-step tasks, and assisting users throughout common architectural design and coordination workflows.</a:t>
            </a: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91B1D4-191E-E882-BD37-9FBAED57B57F}"/>
              </a:ext>
            </a:extLst>
          </p:cNvPr>
          <p:cNvSpPr txBox="1"/>
          <p:nvPr/>
        </p:nvSpPr>
        <p:spPr>
          <a:xfrm>
            <a:off x="6093893" y="57036"/>
            <a:ext cx="6098107" cy="646331"/>
          </a:xfrm>
          <a:prstGeom prst="rect">
            <a:avLst/>
          </a:prstGeom>
          <a:noFill/>
        </p:spPr>
        <p:txBody>
          <a:bodyPr wrap="square" rtlCol="0">
            <a:spAutoFit/>
          </a:bodyPr>
          <a:lstStyle/>
          <a:p>
            <a:pPr algn="r"/>
            <a:r>
              <a:rPr lang="en-GB" b="1" i="1" dirty="0">
                <a:solidFill>
                  <a:srgbClr val="FFFFFF"/>
                </a:solidFill>
              </a:rPr>
              <a:t>Agentic AI Assistant for Architectural Design and Project Coordination</a:t>
            </a:r>
            <a:endParaRPr lang="en-US" dirty="0"/>
          </a:p>
        </p:txBody>
      </p: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142989"/>
          </a:xfrm>
        </p:spPr>
        <p:txBody>
          <a:bodyPr/>
          <a:lstStyle/>
          <a:p>
            <a:pPr>
              <a:lnSpc>
                <a:spcPct val="100000"/>
              </a:lnSpc>
            </a:pPr>
            <a:r>
              <a:rPr lang="en-GB" b="0" dirty="0">
                <a:solidFill>
                  <a:srgbClr val="5583D1"/>
                </a:solidFill>
                <a:latin typeface="Calibri (Body)"/>
              </a:rPr>
              <a:t>Develop a project-aware AI Assistant. </a:t>
            </a:r>
          </a:p>
          <a:p>
            <a:pPr>
              <a:lnSpc>
                <a:spcPct val="100000"/>
              </a:lnSpc>
            </a:pPr>
            <a:r>
              <a:rPr lang="en-GB" b="0" dirty="0">
                <a:solidFill>
                  <a:srgbClr val="5583D1"/>
                </a:solidFill>
                <a:latin typeface="Calibri (Body)"/>
              </a:rPr>
              <a:t>Enable autonomous tool-based task execution. </a:t>
            </a:r>
          </a:p>
          <a:p>
            <a:pPr>
              <a:lnSpc>
                <a:spcPct val="100000"/>
              </a:lnSpc>
            </a:pPr>
            <a:r>
              <a:rPr lang="en-GB" b="0" dirty="0">
                <a:solidFill>
                  <a:srgbClr val="5583D1"/>
                </a:solidFill>
                <a:latin typeface="Calibri (Body)"/>
              </a:rPr>
              <a:t>Provide AI-based architectural design reviews. </a:t>
            </a:r>
          </a:p>
          <a:p>
            <a:pPr>
              <a:lnSpc>
                <a:spcPct val="100000"/>
              </a:lnSpc>
            </a:pPr>
            <a:r>
              <a:rPr lang="en-GB" b="0" dirty="0">
                <a:solidFill>
                  <a:srgbClr val="5583D1"/>
                </a:solidFill>
                <a:latin typeface="Calibri (Body)"/>
              </a:rPr>
              <a:t>Automate architectural research and coordination.</a:t>
            </a:r>
            <a:endParaRPr lang="en-US" b="0" dirty="0">
              <a:solidFill>
                <a:srgbClr val="5583D1"/>
              </a:solidFill>
              <a:latin typeface="Calibri (Body)"/>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	</a:t>
            </a: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452DD5-D934-4955-F39B-2109AC72692F}"/>
              </a:ext>
            </a:extLst>
          </p:cNvPr>
          <p:cNvSpPr txBox="1"/>
          <p:nvPr/>
        </p:nvSpPr>
        <p:spPr>
          <a:xfrm>
            <a:off x="6093893" y="57036"/>
            <a:ext cx="6098107" cy="646331"/>
          </a:xfrm>
          <a:prstGeom prst="rect">
            <a:avLst/>
          </a:prstGeom>
          <a:noFill/>
        </p:spPr>
        <p:txBody>
          <a:bodyPr wrap="square" rtlCol="0">
            <a:spAutoFit/>
          </a:bodyPr>
          <a:lstStyle/>
          <a:p>
            <a:pPr algn="r"/>
            <a:r>
              <a:rPr lang="en-GB" b="1" i="1" dirty="0">
                <a:solidFill>
                  <a:srgbClr val="FFFFFF"/>
                </a:solidFill>
              </a:rPr>
              <a:t>Agentic AI Assistant for Architectural Design and Project Coordination</a:t>
            </a:r>
            <a:endParaRPr lang="en-US" dirty="0"/>
          </a:p>
        </p:txBody>
      </p: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255996" y="1271219"/>
            <a:ext cx="10624338" cy="4142989"/>
          </a:xfrm>
        </p:spPr>
        <p:txBody>
          <a:bodyPr/>
          <a:lstStyle/>
          <a:p>
            <a:pPr>
              <a:lnSpc>
                <a:spcPct val="100000"/>
              </a:lnSpc>
            </a:pPr>
            <a:r>
              <a:rPr lang="en-US" dirty="0">
                <a:solidFill>
                  <a:srgbClr val="5583D1"/>
                </a:solidFill>
                <a:latin typeface="Calibri (Body)"/>
              </a:rPr>
              <a:t>Application:</a:t>
            </a:r>
            <a:r>
              <a:rPr lang="en-US" b="0" dirty="0">
                <a:solidFill>
                  <a:srgbClr val="5583D1"/>
                </a:solidFill>
                <a:latin typeface="Calibri (Body)"/>
              </a:rPr>
              <a:t> A web-based platform for creating architectural projects and uploading relevant BIM/PDF documents. </a:t>
            </a:r>
          </a:p>
          <a:p>
            <a:pPr>
              <a:lnSpc>
                <a:spcPct val="100000"/>
              </a:lnSpc>
            </a:pPr>
            <a:r>
              <a:rPr lang="en-US" dirty="0">
                <a:solidFill>
                  <a:srgbClr val="5583D1"/>
                </a:solidFill>
                <a:latin typeface="Calibri (Body)"/>
              </a:rPr>
              <a:t>Search &amp; Retrieval:</a:t>
            </a:r>
            <a:r>
              <a:rPr lang="en-US" b="0" dirty="0">
                <a:solidFill>
                  <a:srgbClr val="5583D1"/>
                </a:solidFill>
                <a:latin typeface="Calibri (Body)"/>
              </a:rPr>
              <a:t> Semantic search across architectural building codes. </a:t>
            </a:r>
          </a:p>
          <a:p>
            <a:pPr>
              <a:lnSpc>
                <a:spcPct val="100000"/>
              </a:lnSpc>
            </a:pPr>
            <a:r>
              <a:rPr lang="en-US" dirty="0">
                <a:solidFill>
                  <a:srgbClr val="5583D1"/>
                </a:solidFill>
                <a:latin typeface="Calibri (Body)"/>
              </a:rPr>
              <a:t>Automation:</a:t>
            </a:r>
            <a:r>
              <a:rPr lang="en-US" b="0" dirty="0">
                <a:solidFill>
                  <a:srgbClr val="5583D1"/>
                </a:solidFill>
                <a:latin typeface="Calibri (Body)"/>
              </a:rPr>
              <a:t> Automated compliance auditing of floor plan datasets . </a:t>
            </a:r>
          </a:p>
          <a:p>
            <a:pPr>
              <a:lnSpc>
                <a:spcPct val="100000"/>
              </a:lnSpc>
            </a:pPr>
            <a:r>
              <a:rPr lang="en-US" dirty="0">
                <a:solidFill>
                  <a:srgbClr val="5583D1"/>
                </a:solidFill>
                <a:latin typeface="Calibri (Body)"/>
              </a:rPr>
              <a:t>Architecture:</a:t>
            </a:r>
            <a:r>
              <a:rPr lang="en-US" b="0" dirty="0">
                <a:solidFill>
                  <a:srgbClr val="5583D1"/>
                </a:solidFill>
                <a:latin typeface="Calibri (Body)"/>
              </a:rPr>
              <a:t> Integration of a multi-agent orchestration framework utilizing a local LLM for privacy and offline capability.</a:t>
            </a:r>
          </a:p>
        </p:txBody>
      </p:sp>
      <p:sp>
        <p:nvSpPr>
          <p:cNvPr id="3" name="TextBox 2">
            <a:extLst>
              <a:ext uri="{FF2B5EF4-FFF2-40B4-BE49-F238E27FC236}">
                <a16:creationId xmlns:a16="http://schemas.microsoft.com/office/drawing/2014/main" id="{CB15F4B8-EED0-F7BE-96C7-D7AAE989A251}"/>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Scope</a:t>
            </a: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164B1-01DD-BF3B-88E8-DF2DEDBFA9EB}"/>
              </a:ext>
            </a:extLst>
          </p:cNvPr>
          <p:cNvSpPr txBox="1"/>
          <p:nvPr/>
        </p:nvSpPr>
        <p:spPr>
          <a:xfrm>
            <a:off x="6093893" y="57036"/>
            <a:ext cx="6098107" cy="646331"/>
          </a:xfrm>
          <a:prstGeom prst="rect">
            <a:avLst/>
          </a:prstGeom>
          <a:noFill/>
        </p:spPr>
        <p:txBody>
          <a:bodyPr wrap="square" rtlCol="0">
            <a:spAutoFit/>
          </a:bodyPr>
          <a:lstStyle/>
          <a:p>
            <a:pPr algn="r"/>
            <a:r>
              <a:rPr lang="en-GB" b="1" i="1" dirty="0">
                <a:solidFill>
                  <a:srgbClr val="FFFFFF"/>
                </a:solidFill>
              </a:rPr>
              <a:t>Agentic AI Assistant for Architectural Design and Project Coordination</a:t>
            </a:r>
            <a:endParaRPr lang="en-US" dirty="0"/>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9C03-8E92-54D7-6EE2-33DC2B5C67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B3663C-4C71-EB2A-170D-22878BAC4C6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Literature Review</a:t>
            </a:r>
          </a:p>
        </p:txBody>
      </p:sp>
      <p:cxnSp>
        <p:nvCxnSpPr>
          <p:cNvPr id="5" name="Straight Connector 4">
            <a:extLst>
              <a:ext uri="{FF2B5EF4-FFF2-40B4-BE49-F238E27FC236}">
                <a16:creationId xmlns:a16="http://schemas.microsoft.com/office/drawing/2014/main" id="{B91B76A7-3EE1-470C-EBA7-8F98E8FFE105}"/>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4F4041-8131-3536-FDDF-513CA3ABA637}"/>
              </a:ext>
            </a:extLst>
          </p:cNvPr>
          <p:cNvSpPr txBox="1"/>
          <p:nvPr/>
        </p:nvSpPr>
        <p:spPr>
          <a:xfrm>
            <a:off x="6093893" y="57036"/>
            <a:ext cx="6098107" cy="646331"/>
          </a:xfrm>
          <a:prstGeom prst="rect">
            <a:avLst/>
          </a:prstGeom>
          <a:noFill/>
        </p:spPr>
        <p:txBody>
          <a:bodyPr wrap="square" rtlCol="0">
            <a:spAutoFit/>
          </a:bodyPr>
          <a:lstStyle/>
          <a:p>
            <a:pPr algn="r"/>
            <a:r>
              <a:rPr lang="en-GB" b="1" i="1" dirty="0">
                <a:solidFill>
                  <a:srgbClr val="FFFFFF"/>
                </a:solidFill>
              </a:rPr>
              <a:t>Agentic AI Assistant for Architectural Design and Project Coordination</a:t>
            </a:r>
            <a:endParaRPr lang="en-US" dirty="0"/>
          </a:p>
        </p:txBody>
      </p:sp>
      <p:graphicFrame>
        <p:nvGraphicFramePr>
          <p:cNvPr id="6" name="Table 5">
            <a:extLst>
              <a:ext uri="{FF2B5EF4-FFF2-40B4-BE49-F238E27FC236}">
                <a16:creationId xmlns:a16="http://schemas.microsoft.com/office/drawing/2014/main" id="{F7EC711B-F6F4-3721-E638-DAC2530007F9}"/>
              </a:ext>
            </a:extLst>
          </p:cNvPr>
          <p:cNvGraphicFramePr>
            <a:graphicFrameLocks noGrp="1"/>
          </p:cNvGraphicFramePr>
          <p:nvPr>
            <p:extLst>
              <p:ext uri="{D42A27DB-BD31-4B8C-83A1-F6EECF244321}">
                <p14:modId xmlns:p14="http://schemas.microsoft.com/office/powerpoint/2010/main" val="2338330744"/>
              </p:ext>
            </p:extLst>
          </p:nvPr>
        </p:nvGraphicFramePr>
        <p:xfrm>
          <a:off x="221274" y="1325538"/>
          <a:ext cx="11803578" cy="4375889"/>
        </p:xfrm>
        <a:graphic>
          <a:graphicData uri="http://schemas.openxmlformats.org/drawingml/2006/table">
            <a:tbl>
              <a:tblPr firstRow="1" bandRow="1">
                <a:tableStyleId>{5C22544A-7EE6-4342-B048-85BDC9FD1C3A}</a:tableStyleId>
              </a:tblPr>
              <a:tblGrid>
                <a:gridCol w="5901789">
                  <a:extLst>
                    <a:ext uri="{9D8B030D-6E8A-4147-A177-3AD203B41FA5}">
                      <a16:colId xmlns:a16="http://schemas.microsoft.com/office/drawing/2014/main" val="3921002726"/>
                    </a:ext>
                  </a:extLst>
                </a:gridCol>
                <a:gridCol w="5901789">
                  <a:extLst>
                    <a:ext uri="{9D8B030D-6E8A-4147-A177-3AD203B41FA5}">
                      <a16:colId xmlns:a16="http://schemas.microsoft.com/office/drawing/2014/main" val="2992007525"/>
                    </a:ext>
                  </a:extLst>
                </a:gridCol>
              </a:tblGrid>
              <a:tr h="809729">
                <a:tc>
                  <a:txBody>
                    <a:bodyPr/>
                    <a:lstStyle/>
                    <a:p>
                      <a:pPr algn="ctr"/>
                      <a:r>
                        <a:rPr lang="en-IN" sz="3600" b="1" i="0" kern="1200" dirty="0">
                          <a:solidFill>
                            <a:schemeClr val="lt1"/>
                          </a:solidFill>
                          <a:effectLst/>
                          <a:latin typeface="+mn-lt"/>
                          <a:ea typeface="+mn-ea"/>
                          <a:cs typeface="+mn-cs"/>
                        </a:rPr>
                        <a:t>Paper </a:t>
                      </a:r>
                      <a:endParaRPr lang="en-IN" i="0" dirty="0"/>
                    </a:p>
                  </a:txBody>
                  <a:tcPr/>
                </a:tc>
                <a:tc>
                  <a:txBody>
                    <a:bodyPr/>
                    <a:lstStyle/>
                    <a:p>
                      <a:pPr algn="ctr"/>
                      <a:r>
                        <a:rPr lang="en-IN" sz="3600" b="1" i="0" kern="1200" dirty="0">
                          <a:solidFill>
                            <a:schemeClr val="lt1"/>
                          </a:solidFill>
                          <a:effectLst/>
                          <a:latin typeface="+mn-lt"/>
                          <a:ea typeface="+mn-ea"/>
                          <a:cs typeface="+mn-cs"/>
                        </a:rPr>
                        <a:t>Summary</a:t>
                      </a:r>
                      <a:endParaRPr lang="en-IN" i="0" dirty="0"/>
                    </a:p>
                  </a:txBody>
                  <a:tcPr/>
                </a:tc>
                <a:extLst>
                  <a:ext uri="{0D108BD9-81ED-4DB2-BD59-A6C34878D82A}">
                    <a16:rowId xmlns:a16="http://schemas.microsoft.com/office/drawing/2014/main" val="3622561219"/>
                  </a:ext>
                </a:extLst>
              </a:tr>
              <a:tr h="1042672">
                <a:tc>
                  <a:txBody>
                    <a:bodyPr/>
                    <a:lstStyle/>
                    <a:p>
                      <a:r>
                        <a:rPr lang="en-GB" sz="1800" i="0" dirty="0"/>
                        <a:t>"An Agentic AI System for Roof Design Compliance Using Asynchronous Multi-Agent Architectures" (MDPI, 2026)</a:t>
                      </a:r>
                      <a:endParaRPr lang="en-IN" sz="1800" i="0" dirty="0"/>
                    </a:p>
                  </a:txBody>
                  <a:tcPr/>
                </a:tc>
                <a:tc>
                  <a:txBody>
                    <a:bodyPr/>
                    <a:lstStyle/>
                    <a:p>
                      <a:r>
                        <a:rPr lang="en-GB" sz="1800" i="0" dirty="0"/>
                        <a:t>Demonstrates the effectiveness of orchestrating specialized LLM agents with Retrieval-Augmented Generation (RAG) to autonomously verify complex building codes and structural compliance, significantly reducing manual review times.</a:t>
                      </a:r>
                      <a:endParaRPr lang="en-IN" sz="1800" i="0" dirty="0"/>
                    </a:p>
                  </a:txBody>
                  <a:tcPr/>
                </a:tc>
                <a:extLst>
                  <a:ext uri="{0D108BD9-81ED-4DB2-BD59-A6C34878D82A}">
                    <a16:rowId xmlns:a16="http://schemas.microsoft.com/office/drawing/2014/main" val="3943249158"/>
                  </a:ext>
                </a:extLst>
              </a:tr>
              <a:tr h="1042672">
                <a:tc>
                  <a:txBody>
                    <a:bodyPr/>
                    <a:lstStyle/>
                    <a:p>
                      <a:r>
                        <a:rPr lang="en-IN" sz="1800" b="0" i="0" kern="1200" dirty="0">
                          <a:solidFill>
                            <a:schemeClr val="dk1"/>
                          </a:solidFill>
                          <a:effectLst/>
                          <a:latin typeface="+mn-lt"/>
                          <a:ea typeface="+mn-ea"/>
                          <a:cs typeface="+mn-cs"/>
                        </a:rPr>
                        <a:t>"Conversational, Agentic AI-Enhanced Architectural Design Process" (2025)</a:t>
                      </a:r>
                      <a:endParaRPr lang="en-IN" sz="1800" i="0" dirty="0"/>
                    </a:p>
                  </a:txBody>
                  <a:tcPr/>
                </a:tc>
                <a:tc>
                  <a:txBody>
                    <a:bodyPr/>
                    <a:lstStyle/>
                    <a:p>
                      <a:r>
                        <a:rPr lang="en-IN" sz="1800" b="0" i="0" kern="1200" dirty="0">
                          <a:solidFill>
                            <a:schemeClr val="dk1"/>
                          </a:solidFill>
                          <a:effectLst/>
                          <a:latin typeface="+mn-lt"/>
                          <a:ea typeface="+mn-ea"/>
                          <a:cs typeface="+mn-cs"/>
                        </a:rPr>
                        <a:t> Explores the integration of multi-agent workflows as collaborative "Design Partners," allowing architects to rapidly iterate on building layouts and BIM integration through natural language prompts.</a:t>
                      </a:r>
                      <a:endParaRPr lang="en-IN" sz="1800" i="0" dirty="0"/>
                    </a:p>
                  </a:txBody>
                  <a:tcPr/>
                </a:tc>
                <a:extLst>
                  <a:ext uri="{0D108BD9-81ED-4DB2-BD59-A6C34878D82A}">
                    <a16:rowId xmlns:a16="http://schemas.microsoft.com/office/drawing/2014/main" val="1833608361"/>
                  </a:ext>
                </a:extLst>
              </a:tr>
              <a:tr h="1042672">
                <a:tc>
                  <a:txBody>
                    <a:bodyPr/>
                    <a:lstStyle/>
                    <a:p>
                      <a:r>
                        <a:rPr lang="en-IN" sz="1800" b="0" i="0" kern="1200" dirty="0">
                          <a:solidFill>
                            <a:schemeClr val="dk1"/>
                          </a:solidFill>
                          <a:effectLst/>
                          <a:latin typeface="+mn-lt"/>
                          <a:ea typeface="+mn-ea"/>
                          <a:cs typeface="+mn-cs"/>
                        </a:rPr>
                        <a:t>"LLM-Based Multi-Agent Orchestration: A Survey of Frameworks and Communication Protocols" (MDPI, 2026)</a:t>
                      </a:r>
                      <a:endParaRPr lang="en-IN" sz="1800" i="0" dirty="0"/>
                    </a:p>
                  </a:txBody>
                  <a:tcPr/>
                </a:tc>
                <a:tc>
                  <a:txBody>
                    <a:bodyPr/>
                    <a:lstStyle/>
                    <a:p>
                      <a:r>
                        <a:rPr lang="en-GB" sz="1800" i="0" dirty="0"/>
                        <a:t>Highlights the necessity of state-machine frameworks (such as LangGraph) to maintain deterministic execution, strict audit trails, and data privacy in complex, enterprise-level multi-agent systems.</a:t>
                      </a:r>
                      <a:endParaRPr lang="en-IN" sz="1800" i="0" dirty="0"/>
                    </a:p>
                  </a:txBody>
                  <a:tcPr/>
                </a:tc>
                <a:extLst>
                  <a:ext uri="{0D108BD9-81ED-4DB2-BD59-A6C34878D82A}">
                    <a16:rowId xmlns:a16="http://schemas.microsoft.com/office/drawing/2014/main" val="3304057240"/>
                  </a:ext>
                </a:extLst>
              </a:tr>
            </a:tbl>
          </a:graphicData>
        </a:graphic>
      </p:graphicFrame>
    </p:spTree>
    <p:extLst>
      <p:ext uri="{BB962C8B-B14F-4D97-AF65-F5344CB8AC3E}">
        <p14:creationId xmlns:p14="http://schemas.microsoft.com/office/powerpoint/2010/main" val="86076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3C69-472F-A80F-ECBC-553E043DB9C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64AF3A-1BAA-BB19-865F-8604C4E3B859}"/>
              </a:ext>
            </a:extLst>
          </p:cNvPr>
          <p:cNvSpPr>
            <a:spLocks noGrp="1"/>
          </p:cNvSpPr>
          <p:nvPr>
            <p:ph type="body" sz="quarter" idx="13"/>
          </p:nvPr>
        </p:nvSpPr>
        <p:spPr>
          <a:xfrm>
            <a:off x="255995" y="1271219"/>
            <a:ext cx="11650870" cy="4142989"/>
          </a:xfrm>
        </p:spPr>
        <p:txBody>
          <a:bodyPr/>
          <a:lstStyle/>
          <a:p>
            <a:pPr marL="0" indent="0">
              <a:lnSpc>
                <a:spcPct val="100000"/>
              </a:lnSpc>
              <a:buNone/>
            </a:pPr>
            <a:r>
              <a:rPr lang="en-GB" b="0" dirty="0">
                <a:solidFill>
                  <a:srgbClr val="5583D1"/>
                </a:solidFill>
                <a:latin typeface="+mn-lt"/>
              </a:rPr>
              <a:t>Recent literature (2024–2026) highlights a shift from simple chatbots to autonomous agentic systems. Studies confirm that standalone LLMs are insufficient for architecture due to hallucinations. However, integrating Retrieval-Augmented Generation (RAG) effectively grounds the AI in structured building codes, ensuring accurate compliance audits.</a:t>
            </a:r>
          </a:p>
          <a:p>
            <a:pPr marL="0" indent="0">
              <a:lnSpc>
                <a:spcPct val="100000"/>
              </a:lnSpc>
              <a:buNone/>
            </a:pPr>
            <a:r>
              <a:rPr lang="en-GB" b="0" dirty="0">
                <a:solidFill>
                  <a:srgbClr val="5583D1"/>
                </a:solidFill>
                <a:latin typeface="+mn-lt"/>
              </a:rPr>
              <a:t>Furthermore, managing complex architectural workflows requires deterministic execution. Research strongly supports "Orchestrator-Worker" frameworks like LangGraph to route tasks to specialized agents reliably. Finally, literature emphasizes the critical need for data privacy with proprietary BIM files, validating our use of local execution models like Ollama.</a:t>
            </a:r>
            <a:endParaRPr lang="en-US" b="0" dirty="0">
              <a:solidFill>
                <a:srgbClr val="5583D1"/>
              </a:solidFill>
            </a:endParaRPr>
          </a:p>
        </p:txBody>
      </p:sp>
      <p:sp>
        <p:nvSpPr>
          <p:cNvPr id="3" name="TextBox 2">
            <a:extLst>
              <a:ext uri="{FF2B5EF4-FFF2-40B4-BE49-F238E27FC236}">
                <a16:creationId xmlns:a16="http://schemas.microsoft.com/office/drawing/2014/main" id="{C7C2521A-B8A4-7818-FEB4-0309182DBEC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Summary of Literature</a:t>
            </a:r>
          </a:p>
        </p:txBody>
      </p:sp>
      <p:cxnSp>
        <p:nvCxnSpPr>
          <p:cNvPr id="5" name="Straight Connector 4">
            <a:extLst>
              <a:ext uri="{FF2B5EF4-FFF2-40B4-BE49-F238E27FC236}">
                <a16:creationId xmlns:a16="http://schemas.microsoft.com/office/drawing/2014/main" id="{76871527-EAED-D60A-DB4D-12A2CE4201DE}"/>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ADF6DB-6CFE-DDC5-997C-E84EE1A9470D}"/>
              </a:ext>
            </a:extLst>
          </p:cNvPr>
          <p:cNvSpPr txBox="1"/>
          <p:nvPr/>
        </p:nvSpPr>
        <p:spPr>
          <a:xfrm>
            <a:off x="6093893" y="57036"/>
            <a:ext cx="6098107" cy="646331"/>
          </a:xfrm>
          <a:prstGeom prst="rect">
            <a:avLst/>
          </a:prstGeom>
          <a:noFill/>
        </p:spPr>
        <p:txBody>
          <a:bodyPr wrap="square" rtlCol="0">
            <a:spAutoFit/>
          </a:bodyPr>
          <a:lstStyle/>
          <a:p>
            <a:pPr algn="r"/>
            <a:r>
              <a:rPr lang="en-GB" b="1" i="1" dirty="0">
                <a:solidFill>
                  <a:srgbClr val="FFFFFF"/>
                </a:solidFill>
              </a:rPr>
              <a:t>Agentic AI Assistant for Architectural Design and Project Coordination</a:t>
            </a:r>
            <a:endParaRPr lang="en-US" dirty="0"/>
          </a:p>
        </p:txBody>
      </p:sp>
    </p:spTree>
    <p:extLst>
      <p:ext uri="{BB962C8B-B14F-4D97-AF65-F5344CB8AC3E}">
        <p14:creationId xmlns:p14="http://schemas.microsoft.com/office/powerpoint/2010/main" val="4084703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0624338" cy="4142989"/>
          </a:xfrm>
        </p:spPr>
        <p:txBody>
          <a:bodyPr/>
          <a:lstStyle/>
          <a:p>
            <a:pPr>
              <a:lnSpc>
                <a:spcPct val="100000"/>
              </a:lnSpc>
            </a:pPr>
            <a:r>
              <a:rPr lang="en-US" dirty="0">
                <a:solidFill>
                  <a:srgbClr val="5583D1"/>
                </a:solidFill>
                <a:latin typeface="+mn-lt"/>
              </a:rPr>
              <a:t>Tech Stack:</a:t>
            </a:r>
            <a:r>
              <a:rPr lang="en-US" b="0" dirty="0">
                <a:solidFill>
                  <a:srgbClr val="5583D1"/>
                </a:solidFill>
                <a:latin typeface="+mn-lt"/>
              </a:rPr>
              <a:t> LangGraph, Ollama (Llama 3.1), Streamlit (Frontend), </a:t>
            </a:r>
            <a:r>
              <a:rPr lang="en-US" b="0" dirty="0" err="1">
                <a:solidFill>
                  <a:srgbClr val="5583D1"/>
                </a:solidFill>
                <a:latin typeface="+mn-lt"/>
              </a:rPr>
              <a:t>FastAPI</a:t>
            </a:r>
            <a:r>
              <a:rPr lang="en-US" b="0" dirty="0">
                <a:solidFill>
                  <a:srgbClr val="5583D1"/>
                </a:solidFill>
                <a:latin typeface="+mn-lt"/>
              </a:rPr>
              <a:t> (Backend), PostgreSQL, </a:t>
            </a:r>
            <a:r>
              <a:rPr lang="en-US" b="0" dirty="0" err="1">
                <a:solidFill>
                  <a:srgbClr val="5583D1"/>
                </a:solidFill>
                <a:latin typeface="+mn-lt"/>
              </a:rPr>
              <a:t>MinIO</a:t>
            </a:r>
            <a:r>
              <a:rPr lang="en-US" b="0" dirty="0">
                <a:solidFill>
                  <a:srgbClr val="5583D1"/>
                </a:solidFill>
                <a:latin typeface="+mn-lt"/>
              </a:rPr>
              <a:t>, </a:t>
            </a:r>
            <a:r>
              <a:rPr lang="en-US" b="0" dirty="0" err="1">
                <a:solidFill>
                  <a:srgbClr val="5583D1"/>
                </a:solidFill>
                <a:latin typeface="+mn-lt"/>
              </a:rPr>
              <a:t>ChromaDB</a:t>
            </a:r>
            <a:r>
              <a:rPr lang="en-US" b="0" dirty="0">
                <a:solidFill>
                  <a:srgbClr val="5583D1"/>
                </a:solidFill>
                <a:latin typeface="+mn-lt"/>
              </a:rPr>
              <a:t>, </a:t>
            </a:r>
            <a:r>
              <a:rPr lang="en-US" b="0" dirty="0" err="1">
                <a:solidFill>
                  <a:srgbClr val="5583D1"/>
                </a:solidFill>
                <a:latin typeface="+mn-lt"/>
              </a:rPr>
              <a:t>MLflow</a:t>
            </a:r>
            <a:r>
              <a:rPr lang="en-US" b="0" dirty="0">
                <a:solidFill>
                  <a:srgbClr val="5583D1"/>
                </a:solidFill>
                <a:latin typeface="+mn-lt"/>
              </a:rPr>
              <a:t>. </a:t>
            </a:r>
          </a:p>
          <a:p>
            <a:pPr>
              <a:lnSpc>
                <a:spcPct val="100000"/>
              </a:lnSpc>
            </a:pPr>
            <a:r>
              <a:rPr lang="en-US" dirty="0">
                <a:solidFill>
                  <a:srgbClr val="5583D1"/>
                </a:solidFill>
                <a:latin typeface="+mn-lt"/>
              </a:rPr>
              <a:t>Datasets:</a:t>
            </a:r>
            <a:r>
              <a:rPr lang="en-US" b="0" dirty="0">
                <a:solidFill>
                  <a:srgbClr val="5583D1"/>
                </a:solidFill>
                <a:latin typeface="+mn-lt"/>
              </a:rPr>
              <a:t> Custom dataset including public architecture documents, CubiCasa5k (floor plans), project scenarios, and agent evaluation datasets. </a:t>
            </a:r>
          </a:p>
          <a:p>
            <a:pPr>
              <a:lnSpc>
                <a:spcPct val="100000"/>
              </a:lnSpc>
            </a:pPr>
            <a:r>
              <a:rPr lang="en-US" dirty="0">
                <a:solidFill>
                  <a:srgbClr val="5583D1"/>
                </a:solidFill>
                <a:latin typeface="+mn-lt"/>
              </a:rPr>
              <a:t>Expected Outcome:</a:t>
            </a:r>
            <a:r>
              <a:rPr lang="en-US" b="0" dirty="0">
                <a:solidFill>
                  <a:srgbClr val="5583D1"/>
                </a:solidFill>
                <a:latin typeface="+mn-lt"/>
              </a:rPr>
              <a:t> A unified platform delivering structured compliance reports, contextual recommendations, and automated code research.</a:t>
            </a:r>
            <a:endParaRPr lang="en-US" sz="2400" b="0" dirty="0">
              <a:solidFill>
                <a:srgbClr val="5583D1"/>
              </a:solidFill>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Additional Information</a:t>
            </a: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4F7A196-7B69-DD68-52A5-39CD9B799F7D}"/>
              </a:ext>
            </a:extLst>
          </p:cNvPr>
          <p:cNvSpPr txBox="1"/>
          <p:nvPr/>
        </p:nvSpPr>
        <p:spPr>
          <a:xfrm>
            <a:off x="6093893" y="57036"/>
            <a:ext cx="6098107" cy="646331"/>
          </a:xfrm>
          <a:prstGeom prst="rect">
            <a:avLst/>
          </a:prstGeom>
          <a:noFill/>
        </p:spPr>
        <p:txBody>
          <a:bodyPr wrap="square" rtlCol="0">
            <a:spAutoFit/>
          </a:bodyPr>
          <a:lstStyle/>
          <a:p>
            <a:pPr algn="r"/>
            <a:r>
              <a:rPr lang="en-GB" b="1" i="1" dirty="0">
                <a:solidFill>
                  <a:srgbClr val="FFFFFF"/>
                </a:solidFill>
              </a:rPr>
              <a:t>Agentic AI Assistant for Architectural Design and Project Coordination</a:t>
            </a:r>
            <a:endParaRPr lang="en-US" dirty="0"/>
          </a:p>
        </p:txBody>
      </p: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5996" y="1271219"/>
            <a:ext cx="11247746" cy="4142989"/>
          </a:xfrm>
        </p:spPr>
        <p:txBody>
          <a:bodyPr/>
          <a:lstStyle/>
          <a:p>
            <a:pPr marL="514350" indent="-514350">
              <a:lnSpc>
                <a:spcPct val="100000"/>
              </a:lnSpc>
              <a:buFont typeface="+mj-lt"/>
              <a:buAutoNum type="arabicPeriod"/>
            </a:pPr>
            <a:r>
              <a:rPr lang="en-US" dirty="0">
                <a:solidFill>
                  <a:srgbClr val="5583D1"/>
                </a:solidFill>
                <a:latin typeface="Calibri (Body)"/>
              </a:rPr>
              <a:t>Module 1:</a:t>
            </a:r>
            <a:r>
              <a:rPr lang="en-US" b="0" dirty="0">
                <a:solidFill>
                  <a:srgbClr val="5583D1"/>
                </a:solidFill>
                <a:latin typeface="Calibri (Body)"/>
              </a:rPr>
              <a:t> Project Setup, Infrastructure &amp; Knowledge Base</a:t>
            </a:r>
          </a:p>
          <a:p>
            <a:pPr marL="457200" lvl="1" indent="0">
              <a:lnSpc>
                <a:spcPct val="100000"/>
              </a:lnSpc>
              <a:buNone/>
            </a:pPr>
            <a:r>
              <a:rPr lang="en-GB" sz="2000" b="0" dirty="0">
                <a:solidFill>
                  <a:srgbClr val="5583D1"/>
                </a:solidFill>
                <a:latin typeface="Calibri (Body)"/>
              </a:rPr>
              <a:t>Containerized deployment of the web application, databases (PostgreSQL/</a:t>
            </a:r>
            <a:r>
              <a:rPr lang="en-GB" sz="2000" b="0" dirty="0" err="1">
                <a:solidFill>
                  <a:srgbClr val="5583D1"/>
                </a:solidFill>
                <a:latin typeface="Calibri (Body)"/>
              </a:rPr>
              <a:t>MinIO</a:t>
            </a:r>
            <a:r>
              <a:rPr lang="en-GB" sz="2000" b="0" dirty="0">
                <a:solidFill>
                  <a:srgbClr val="5583D1"/>
                </a:solidFill>
                <a:latin typeface="Calibri (Body)"/>
              </a:rPr>
              <a:t>), and vector store (</a:t>
            </a:r>
            <a:r>
              <a:rPr lang="en-GB" sz="2000" b="0" dirty="0" err="1">
                <a:solidFill>
                  <a:srgbClr val="5583D1"/>
                </a:solidFill>
                <a:latin typeface="Calibri (Body)"/>
              </a:rPr>
              <a:t>ChromaDB</a:t>
            </a:r>
            <a:r>
              <a:rPr lang="en-GB" sz="2000" b="0" dirty="0">
                <a:solidFill>
                  <a:srgbClr val="5583D1"/>
                </a:solidFill>
                <a:latin typeface="Calibri (Body)"/>
              </a:rPr>
              <a:t>) to handle document ingestion and project definition.</a:t>
            </a:r>
            <a:endParaRPr lang="en-US" sz="1800" b="0" dirty="0">
              <a:solidFill>
                <a:srgbClr val="5583D1"/>
              </a:solidFill>
              <a:latin typeface="Calibri (Body)"/>
            </a:endParaRPr>
          </a:p>
          <a:p>
            <a:pPr marL="514350" indent="-514350">
              <a:lnSpc>
                <a:spcPct val="100000"/>
              </a:lnSpc>
              <a:buFont typeface="+mj-lt"/>
              <a:buAutoNum type="arabicPeriod"/>
            </a:pPr>
            <a:r>
              <a:rPr lang="en-US" dirty="0">
                <a:solidFill>
                  <a:srgbClr val="5583D1"/>
                </a:solidFill>
                <a:latin typeface="Calibri (Body)"/>
              </a:rPr>
              <a:t>Module 2:</a:t>
            </a:r>
            <a:r>
              <a:rPr lang="en-US" b="0" dirty="0">
                <a:solidFill>
                  <a:srgbClr val="5583D1"/>
                </a:solidFill>
                <a:latin typeface="Calibri (Body)"/>
              </a:rPr>
              <a:t> Multi-Agent Orchestration Engine (LangGraph)</a:t>
            </a:r>
          </a:p>
          <a:p>
            <a:pPr marL="457200" lvl="1" indent="0">
              <a:lnSpc>
                <a:spcPct val="100000"/>
              </a:lnSpc>
              <a:buNone/>
            </a:pPr>
            <a:r>
              <a:rPr lang="en-GB" dirty="0">
                <a:solidFill>
                  <a:srgbClr val="5583D1"/>
                </a:solidFill>
                <a:latin typeface="Calibri (Body)"/>
              </a:rPr>
              <a:t>A state-machine framework coordinating specialized local LLM agents to reliably execute complex architectural tasks and semantic searches.</a:t>
            </a:r>
            <a:r>
              <a:rPr lang="en-US" b="0" dirty="0">
                <a:solidFill>
                  <a:srgbClr val="5583D1"/>
                </a:solidFill>
                <a:latin typeface="Calibri (Body)"/>
              </a:rPr>
              <a:t> </a:t>
            </a:r>
          </a:p>
          <a:p>
            <a:pPr marL="514350" indent="-514350">
              <a:lnSpc>
                <a:spcPct val="100000"/>
              </a:lnSpc>
              <a:buFont typeface="+mj-lt"/>
              <a:buAutoNum type="arabicPeriod"/>
            </a:pPr>
            <a:r>
              <a:rPr lang="en-US" dirty="0">
                <a:solidFill>
                  <a:srgbClr val="5583D1"/>
                </a:solidFill>
                <a:latin typeface="Calibri (Body)"/>
              </a:rPr>
              <a:t>Module 3:</a:t>
            </a:r>
            <a:r>
              <a:rPr lang="en-US" b="0" dirty="0">
                <a:solidFill>
                  <a:srgbClr val="5583D1"/>
                </a:solidFill>
                <a:latin typeface="Calibri (Body)"/>
              </a:rPr>
              <a:t> Architectural Design Review Pipeline </a:t>
            </a:r>
          </a:p>
          <a:p>
            <a:pPr marL="457200" lvl="1" indent="0">
              <a:buNone/>
            </a:pPr>
            <a:r>
              <a:rPr lang="en-GB" dirty="0">
                <a:solidFill>
                  <a:srgbClr val="5583D1"/>
                </a:solidFill>
                <a:latin typeface="Calibri (Body)"/>
              </a:rPr>
              <a:t>Automated compliance auditing of floor plan datasets against building codes, providing structured citations, visual feedback, and reports.</a:t>
            </a:r>
            <a:endParaRPr lang="en-US" b="0" dirty="0">
              <a:solidFill>
                <a:srgbClr val="5583D1"/>
              </a:solidFill>
              <a:latin typeface="Calibri (Body)"/>
            </a:endParaRPr>
          </a:p>
          <a:p>
            <a:pPr marL="514350" indent="-514350">
              <a:lnSpc>
                <a:spcPct val="100000"/>
              </a:lnSpc>
              <a:buFont typeface="+mj-lt"/>
              <a:buAutoNum type="arabicPeriod"/>
            </a:pPr>
            <a:r>
              <a:rPr lang="en-US" dirty="0">
                <a:solidFill>
                  <a:srgbClr val="5583D1"/>
                </a:solidFill>
                <a:latin typeface="Calibri (Body)"/>
              </a:rPr>
              <a:t>Module 4:</a:t>
            </a:r>
            <a:r>
              <a:rPr lang="en-US" b="0" dirty="0">
                <a:solidFill>
                  <a:srgbClr val="5583D1"/>
                </a:solidFill>
                <a:latin typeface="Calibri (Body)"/>
              </a:rPr>
              <a:t> Agent Evaluation, Tracking &amp; CI/CD</a:t>
            </a:r>
          </a:p>
          <a:p>
            <a:pPr marL="457200" lvl="1" indent="0">
              <a:buNone/>
            </a:pPr>
            <a:r>
              <a:rPr lang="en-GB" dirty="0">
                <a:solidFill>
                  <a:srgbClr val="5583D1"/>
                </a:solidFill>
                <a:latin typeface="Calibri (Body)"/>
              </a:rPr>
              <a:t>Implementation of </a:t>
            </a:r>
            <a:r>
              <a:rPr lang="en-GB" dirty="0" err="1">
                <a:solidFill>
                  <a:srgbClr val="5583D1"/>
                </a:solidFill>
                <a:latin typeface="Calibri (Body)"/>
              </a:rPr>
              <a:t>MLflow</a:t>
            </a:r>
            <a:r>
              <a:rPr lang="en-GB" dirty="0">
                <a:solidFill>
                  <a:srgbClr val="5583D1"/>
                </a:solidFill>
                <a:latin typeface="Calibri (Body)"/>
              </a:rPr>
              <a:t> for monitoring agent accuracy and system metrics, alongside a GitHub Actions pipeline for continuous integration.</a:t>
            </a:r>
            <a:endParaRPr lang="en-US" b="0" dirty="0">
              <a:solidFill>
                <a:srgbClr val="5583D1"/>
              </a:solidFill>
              <a:latin typeface="Calibri (Body)"/>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Modules to cover</a:t>
            </a:r>
          </a:p>
        </p:txBody>
      </p:sp>
      <p:cxnSp>
        <p:nvCxnSpPr>
          <p:cNvPr id="5" name="Straight Connector 4">
            <a:extLst>
              <a:ext uri="{FF2B5EF4-FFF2-40B4-BE49-F238E27FC236}">
                <a16:creationId xmlns:a16="http://schemas.microsoft.com/office/drawing/2014/main" id="{25CD5B67-3503-60B5-8469-F3C3191D84D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D4A0452-2CB8-E4C6-FAC7-ECD109C50CE1}"/>
              </a:ext>
            </a:extLst>
          </p:cNvPr>
          <p:cNvSpPr txBox="1"/>
          <p:nvPr/>
        </p:nvSpPr>
        <p:spPr>
          <a:xfrm>
            <a:off x="6093893" y="57036"/>
            <a:ext cx="6098107" cy="646331"/>
          </a:xfrm>
          <a:prstGeom prst="rect">
            <a:avLst/>
          </a:prstGeom>
          <a:noFill/>
        </p:spPr>
        <p:txBody>
          <a:bodyPr wrap="square" rtlCol="0">
            <a:spAutoFit/>
          </a:bodyPr>
          <a:lstStyle/>
          <a:p>
            <a:pPr algn="r"/>
            <a:r>
              <a:rPr lang="en-GB" b="1" i="1" dirty="0">
                <a:solidFill>
                  <a:srgbClr val="FFFFFF"/>
                </a:solidFill>
              </a:rPr>
              <a:t>Agentic AI Assistant for Architectural Design and Project Coordination</a:t>
            </a:r>
            <a:endParaRPr lang="en-US" dirty="0"/>
          </a:p>
        </p:txBody>
      </p:sp>
    </p:spTree>
    <p:extLst>
      <p:ext uri="{BB962C8B-B14F-4D97-AF65-F5344CB8AC3E}">
        <p14:creationId xmlns:p14="http://schemas.microsoft.com/office/powerpoint/2010/main" val="118736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p:txBody>
          <a:bodyPr/>
          <a:lstStyle/>
          <a:p>
            <a:pPr marL="0" indent="0">
              <a:buNone/>
            </a:pPr>
            <a:r>
              <a:rPr lang="en-US" dirty="0">
                <a:solidFill>
                  <a:srgbClr val="5583D1"/>
                </a:solidFill>
                <a:latin typeface="+mn-lt"/>
              </a:rPr>
              <a:t>Subtopic - </a:t>
            </a:r>
            <a:r>
              <a:rPr lang="en-GB" dirty="0">
                <a:solidFill>
                  <a:srgbClr val="5583D1"/>
                </a:solidFill>
                <a:latin typeface="+mn-lt"/>
              </a:rPr>
              <a:t>UI Development &amp; Containerized Data Pipeline</a:t>
            </a:r>
            <a:endParaRPr lang="en-US" dirty="0">
              <a:solidFill>
                <a:srgbClr val="5583D1"/>
              </a:solidFill>
              <a:latin typeface="+mn-lt"/>
            </a:endParaRPr>
          </a:p>
          <a:p>
            <a:pPr lvl="1"/>
            <a:endParaRPr lang="en-GB" dirty="0">
              <a:solidFill>
                <a:srgbClr val="1C3898"/>
              </a:solidFill>
            </a:endParaRPr>
          </a:p>
          <a:p>
            <a:pPr lvl="1"/>
            <a:r>
              <a:rPr lang="en-GB" sz="2800" dirty="0">
                <a:solidFill>
                  <a:srgbClr val="1C3898"/>
                </a:solidFill>
              </a:rPr>
              <a:t>Frontend &amp; UX: Development of a Streamlit frontend for project creation, constraint definition, and chat interaction. </a:t>
            </a:r>
          </a:p>
          <a:p>
            <a:pPr lvl="1"/>
            <a:r>
              <a:rPr lang="en-GB" sz="2800" dirty="0">
                <a:solidFill>
                  <a:srgbClr val="1C3898"/>
                </a:solidFill>
              </a:rPr>
              <a:t>Containerized Infrastructure: Orchestration of the application stack (</a:t>
            </a:r>
            <a:r>
              <a:rPr lang="en-GB" sz="2800" dirty="0" err="1">
                <a:solidFill>
                  <a:srgbClr val="1C3898"/>
                </a:solidFill>
              </a:rPr>
              <a:t>FastAPI</a:t>
            </a:r>
            <a:r>
              <a:rPr lang="en-GB" sz="2800" dirty="0">
                <a:solidFill>
                  <a:srgbClr val="1C3898"/>
                </a:solidFill>
              </a:rPr>
              <a:t>, Streamlit, PostgreSQL, </a:t>
            </a:r>
            <a:r>
              <a:rPr lang="en-GB" sz="2800" dirty="0" err="1">
                <a:solidFill>
                  <a:srgbClr val="1C3898"/>
                </a:solidFill>
              </a:rPr>
              <a:t>MinIO</a:t>
            </a:r>
            <a:r>
              <a:rPr lang="en-GB" sz="2800" dirty="0">
                <a:solidFill>
                  <a:srgbClr val="1C3898"/>
                </a:solidFill>
              </a:rPr>
              <a:t>) using Docker Compose for reproducible deployment. </a:t>
            </a:r>
          </a:p>
          <a:p>
            <a:pPr lvl="1"/>
            <a:r>
              <a:rPr lang="en-GB" sz="2800" dirty="0">
                <a:solidFill>
                  <a:srgbClr val="1C3898"/>
                </a:solidFill>
              </a:rPr>
              <a:t>Knowledge Base Ingestion: Automated parsing, chunking, and indexing of building codes into a </a:t>
            </a:r>
            <a:r>
              <a:rPr lang="en-GB" sz="2800" dirty="0" err="1">
                <a:solidFill>
                  <a:srgbClr val="1C3898"/>
                </a:solidFill>
              </a:rPr>
              <a:t>ChromaDB</a:t>
            </a:r>
            <a:r>
              <a:rPr lang="en-GB" sz="2800" dirty="0">
                <a:solidFill>
                  <a:srgbClr val="1C3898"/>
                </a:solidFill>
              </a:rPr>
              <a:t> vector store.</a:t>
            </a:r>
            <a:endParaRPr lang="en-US" sz="2800" dirty="0">
              <a:solidFill>
                <a:srgbClr val="1C3898"/>
              </a:solidFill>
            </a:endParaRP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 -</a:t>
            </a:r>
            <a:r>
              <a:rPr lang="en-US" sz="3600" b="1" dirty="0">
                <a:solidFill>
                  <a:srgbClr val="5B9BD5">
                    <a:lumMod val="50000"/>
                  </a:srgbClr>
                </a:solidFill>
              </a:rPr>
              <a:t> Project Setup &amp; Knowledge Base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5221164-7940-3B34-A613-28A74A63E0F7}"/>
              </a:ext>
            </a:extLst>
          </p:cNvPr>
          <p:cNvSpPr txBox="1"/>
          <p:nvPr/>
        </p:nvSpPr>
        <p:spPr>
          <a:xfrm>
            <a:off x="6093893" y="57036"/>
            <a:ext cx="6098107" cy="646331"/>
          </a:xfrm>
          <a:prstGeom prst="rect">
            <a:avLst/>
          </a:prstGeom>
          <a:noFill/>
        </p:spPr>
        <p:txBody>
          <a:bodyPr wrap="square" rtlCol="0">
            <a:spAutoFit/>
          </a:bodyPr>
          <a:lstStyle/>
          <a:p>
            <a:pPr algn="r"/>
            <a:r>
              <a:rPr lang="en-GB" b="1" i="1" dirty="0">
                <a:solidFill>
                  <a:srgbClr val="FFFFFF"/>
                </a:solidFill>
              </a:rPr>
              <a:t>Agentic AI Assistant for Architectural Design and Project Coordination</a:t>
            </a:r>
            <a:endParaRPr lang="en-US" dirty="0"/>
          </a:p>
        </p:txBody>
      </p: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13279" y="1863675"/>
            <a:ext cx="13418557" cy="7441200"/>
          </a:xfrm>
          <a:custGeom>
            <a:avLst/>
            <a:gdLst/>
            <a:ahLst/>
            <a:cxnLst/>
            <a:rect l="l" t="t" r="r" b="b"/>
            <a:pathLst>
              <a:path w="20127836" h="11161800">
                <a:moveTo>
                  <a:pt x="0" y="0"/>
                </a:moveTo>
                <a:lnTo>
                  <a:pt x="20127836" y="0"/>
                </a:lnTo>
                <a:lnTo>
                  <a:pt x="20127836" y="11161800"/>
                </a:lnTo>
                <a:lnTo>
                  <a:pt x="0" y="11161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sz="1200"/>
          </a:p>
        </p:txBody>
      </p:sp>
      <p:sp>
        <p:nvSpPr>
          <p:cNvPr id="3" name="TextBox 3"/>
          <p:cNvSpPr txBox="1"/>
          <p:nvPr/>
        </p:nvSpPr>
        <p:spPr>
          <a:xfrm>
            <a:off x="1992147" y="1761097"/>
            <a:ext cx="8207706" cy="1752724"/>
          </a:xfrm>
          <a:prstGeom prst="rect">
            <a:avLst/>
          </a:prstGeom>
        </p:spPr>
        <p:txBody>
          <a:bodyPr lIns="0" tIns="0" rIns="0" bIns="0" rtlCol="0" anchor="t">
            <a:spAutoFit/>
          </a:bodyPr>
          <a:lstStyle/>
          <a:p>
            <a:pPr algn="ctr">
              <a:lnSpc>
                <a:spcPts val="14967"/>
              </a:lnSpc>
            </a:pPr>
            <a:r>
              <a:rPr lang="en-US" sz="10615" b="1" dirty="0">
                <a:solidFill>
                  <a:srgbClr val="1C1C1C"/>
                </a:solidFill>
                <a:latin typeface="Montserrat Bold"/>
                <a:ea typeface="Montserrat Bold"/>
                <a:cs typeface="Montserrat Bold"/>
                <a:sym typeface="Montserrat Bold"/>
              </a:rPr>
              <a:t>Thank You</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597</TotalTime>
  <Words>799</Words>
  <Application>Microsoft Office PowerPoint</Application>
  <PresentationFormat>Widescreen</PresentationFormat>
  <Paragraphs>67</Paragraphs>
  <Slides>10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Calibri</vt:lpstr>
      <vt:lpstr>Calibri (Body)</vt:lpstr>
      <vt:lpstr>Frutiger 45 bold</vt:lpstr>
      <vt:lpstr>Frutiger LT Pro 45 Light</vt:lpstr>
      <vt:lpstr>Montserrat Bold</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Rahi Sanxipt Mehta</cp:lastModifiedBy>
  <cp:revision>18</cp:revision>
  <dcterms:created xsi:type="dcterms:W3CDTF">2024-05-13T10:33:11Z</dcterms:created>
  <dcterms:modified xsi:type="dcterms:W3CDTF">2026-09-11T10:09:15Z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